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" name="Google Shape;39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0" name="Google Shape;42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8" name="Google Shape;44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jpg"/><Relationship Id="rId4" Type="http://schemas.openxmlformats.org/officeDocument/2006/relationships/image" Target="../media/image12.jpg"/><Relationship Id="rId5" Type="http://schemas.openxmlformats.org/officeDocument/2006/relationships/image" Target="../media/image8.png"/><Relationship Id="rId6" Type="http://schemas.openxmlformats.org/officeDocument/2006/relationships/image" Target="../media/image23.png"/><Relationship Id="rId7" Type="http://schemas.openxmlformats.org/officeDocument/2006/relationships/image" Target="../media/image39.png"/><Relationship Id="rId8" Type="http://schemas.openxmlformats.org/officeDocument/2006/relationships/image" Target="../media/image2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3.png"/><Relationship Id="rId10" Type="http://schemas.openxmlformats.org/officeDocument/2006/relationships/image" Target="../media/image3.png"/><Relationship Id="rId9" Type="http://schemas.openxmlformats.org/officeDocument/2006/relationships/image" Target="../media/image26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19.png"/><Relationship Id="rId8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jpg"/><Relationship Id="rId4" Type="http://schemas.openxmlformats.org/officeDocument/2006/relationships/image" Target="../media/image12.jp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3.png"/><Relationship Id="rId5" Type="http://schemas.openxmlformats.org/officeDocument/2006/relationships/image" Target="../media/image18.png"/><Relationship Id="rId6" Type="http://schemas.openxmlformats.org/officeDocument/2006/relationships/image" Target="../media/image46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Relationship Id="rId4" Type="http://schemas.openxmlformats.org/officeDocument/2006/relationships/image" Target="../media/image12.jpg"/><Relationship Id="rId5" Type="http://schemas.openxmlformats.org/officeDocument/2006/relationships/image" Target="../media/image3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3.png"/><Relationship Id="rId11" Type="http://schemas.openxmlformats.org/officeDocument/2006/relationships/image" Target="../media/image40.png"/><Relationship Id="rId10" Type="http://schemas.openxmlformats.org/officeDocument/2006/relationships/image" Target="../media/image24.png"/><Relationship Id="rId9" Type="http://schemas.openxmlformats.org/officeDocument/2006/relationships/image" Target="../media/image26.png"/><Relationship Id="rId5" Type="http://schemas.openxmlformats.org/officeDocument/2006/relationships/image" Target="../media/image25.png"/><Relationship Id="rId6" Type="http://schemas.openxmlformats.org/officeDocument/2006/relationships/image" Target="../media/image41.png"/><Relationship Id="rId7" Type="http://schemas.openxmlformats.org/officeDocument/2006/relationships/image" Target="../media/image15.png"/><Relationship Id="rId8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Relationship Id="rId4" Type="http://schemas.openxmlformats.org/officeDocument/2006/relationships/image" Target="../media/image1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3.png"/><Relationship Id="rId5" Type="http://schemas.openxmlformats.org/officeDocument/2006/relationships/image" Target="../media/image5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jpg"/><Relationship Id="rId4" Type="http://schemas.openxmlformats.org/officeDocument/2006/relationships/image" Target="../media/image12.jpg"/><Relationship Id="rId5" Type="http://schemas.openxmlformats.org/officeDocument/2006/relationships/image" Target="../media/image4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13.png"/><Relationship Id="rId5" Type="http://schemas.openxmlformats.org/officeDocument/2006/relationships/image" Target="../media/image49.png"/><Relationship Id="rId6" Type="http://schemas.openxmlformats.org/officeDocument/2006/relationships/image" Target="../media/image5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13.png"/><Relationship Id="rId5" Type="http://schemas.openxmlformats.org/officeDocument/2006/relationships/image" Target="../media/image69.png"/><Relationship Id="rId6" Type="http://schemas.openxmlformats.org/officeDocument/2006/relationships/image" Target="../media/image25.png"/><Relationship Id="rId7" Type="http://schemas.openxmlformats.org/officeDocument/2006/relationships/image" Target="../media/image46.png"/><Relationship Id="rId8" Type="http://schemas.openxmlformats.org/officeDocument/2006/relationships/image" Target="../media/image4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jpg"/><Relationship Id="rId4" Type="http://schemas.openxmlformats.org/officeDocument/2006/relationships/image" Target="../media/image12.jpg"/><Relationship Id="rId5" Type="http://schemas.openxmlformats.org/officeDocument/2006/relationships/image" Target="../media/image70.png"/><Relationship Id="rId6" Type="http://schemas.openxmlformats.org/officeDocument/2006/relationships/image" Target="../media/image7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13.png"/><Relationship Id="rId5" Type="http://schemas.openxmlformats.org/officeDocument/2006/relationships/image" Target="../media/image73.png"/><Relationship Id="rId6" Type="http://schemas.openxmlformats.org/officeDocument/2006/relationships/image" Target="../media/image5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jpg"/><Relationship Id="rId4" Type="http://schemas.openxmlformats.org/officeDocument/2006/relationships/image" Target="../media/image12.jpg"/><Relationship Id="rId9" Type="http://schemas.openxmlformats.org/officeDocument/2006/relationships/image" Target="../media/image25.png"/><Relationship Id="rId5" Type="http://schemas.openxmlformats.org/officeDocument/2006/relationships/image" Target="../media/image72.png"/><Relationship Id="rId6" Type="http://schemas.openxmlformats.org/officeDocument/2006/relationships/image" Target="../media/image24.png"/><Relationship Id="rId7" Type="http://schemas.openxmlformats.org/officeDocument/2006/relationships/image" Target="../media/image6.png"/><Relationship Id="rId8" Type="http://schemas.openxmlformats.org/officeDocument/2006/relationships/image" Target="../media/image2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13.png"/><Relationship Id="rId5" Type="http://schemas.openxmlformats.org/officeDocument/2006/relationships/image" Target="../media/image68.png"/><Relationship Id="rId6" Type="http://schemas.openxmlformats.org/officeDocument/2006/relationships/image" Target="../media/image6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7985455" y="0"/>
            <a:ext cx="4206240" cy="6858000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12027103" y="0"/>
            <a:ext cx="164592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proc/logo_left_pill.png" id="19" name="Google Shape;1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411480"/>
            <a:ext cx="1144805" cy="502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ets/proc/logo_right_pill.png" id="20" name="Google Shape;2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43620" y="411480"/>
            <a:ext cx="1545156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/>
          <p:nvPr/>
        </p:nvSpPr>
        <p:spPr>
          <a:xfrm>
            <a:off x="640080" y="18745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2DD4BF"/>
                </a:solidFill>
                <a:latin typeface="Consolas"/>
                <a:ea typeface="Consolas"/>
                <a:cs typeface="Consolas"/>
                <a:sym typeface="Consolas"/>
              </a:rPr>
              <a:t>MAJOR PROJECT  ·  23ONMCR-753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66928" y="224028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Georgia"/>
              <a:buNone/>
            </a:pPr>
            <a:r>
              <a:rPr b="1" i="0" lang="en-US" sz="6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MindAgent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640080" y="33832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2600"/>
              <a:buFont typeface="Georgia"/>
              <a:buNone/>
            </a:pPr>
            <a:r>
              <a:rPr b="0" i="1" lang="en-US" sz="2600" u="none" cap="none" strike="noStrike">
                <a:solidFill>
                  <a:srgbClr val="CBD5E1"/>
                </a:solidFill>
                <a:latin typeface="Georgia"/>
                <a:ea typeface="Georgia"/>
                <a:cs typeface="Georgia"/>
                <a:sym typeface="Georgia"/>
              </a:rPr>
              <a:t>Intelligent Document Q&amp;A System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640080" y="4069080"/>
            <a:ext cx="6949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 serverless, confidence-driven Retrieval-Augmented Generation (RAG) platform — built entirely on pay-per-use cloud infrastructure.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" name="Google Shape;25;p3"/>
          <p:cNvCxnSpPr/>
          <p:nvPr/>
        </p:nvCxnSpPr>
        <p:spPr>
          <a:xfrm>
            <a:off x="640080" y="5074920"/>
            <a:ext cx="6766560" cy="0"/>
          </a:xfrm>
          <a:prstGeom prst="straightConnector1">
            <a:avLst/>
          </a:prstGeom>
          <a:noFill/>
          <a:ln cap="flat" cmpd="sng" w="12700">
            <a:solidFill>
              <a:srgbClr val="22304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" name="Google Shape;26;p3"/>
          <p:cNvSpPr/>
          <p:nvPr/>
        </p:nvSpPr>
        <p:spPr>
          <a:xfrm>
            <a:off x="640080" y="521208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Abhiraj Ghosh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Roll No: O24MCA110969   ·   MCA (4th Sem)   ·   Batch 2024–2026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8305495" y="123444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2DD4BF"/>
                </a:solidFill>
                <a:latin typeface="Georgia"/>
                <a:ea typeface="Georgia"/>
                <a:cs typeface="Georgia"/>
                <a:sym typeface="Georgia"/>
              </a:rPr>
              <a:t>52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8332927" y="1856232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REPORT PAGES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8305495" y="2441448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2DD4BF"/>
                </a:solidFill>
                <a:latin typeface="Georgia"/>
                <a:ea typeface="Georgia"/>
                <a:cs typeface="Georgia"/>
                <a:sym typeface="Georgia"/>
              </a:rPr>
              <a:t>6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8332927" y="306324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AWS LAMBDAS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8305495" y="3648456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2DD4BF"/>
                </a:solidFill>
                <a:latin typeface="Georgia"/>
                <a:ea typeface="Georgia"/>
                <a:cs typeface="Georgia"/>
                <a:sym typeface="Georgia"/>
              </a:rPr>
              <a:t>14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8332927" y="4270248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STEP RAG PIPELINE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8305495" y="4855464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2DD4BF"/>
                </a:solidFill>
                <a:latin typeface="Georgia"/>
                <a:ea typeface="Georgia"/>
                <a:cs typeface="Georgia"/>
                <a:sym typeface="Georgia"/>
              </a:rPr>
              <a:t>100%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8332927" y="5477256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TESTS PASSING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ChandigarhUni-head-left.png" id="40" name="Google Shape;4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10896"/>
            <a:ext cx="1005302" cy="384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ets/cu-online-head-right.png" id="41" name="Google Shape;4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06209" y="329184"/>
            <a:ext cx="1328286" cy="3657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" name="Google Shape;42;p4"/>
          <p:cNvCxnSpPr/>
          <p:nvPr/>
        </p:nvCxnSpPr>
        <p:spPr>
          <a:xfrm>
            <a:off x="457200" y="868680"/>
            <a:ext cx="11277295" cy="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" name="Google Shape;43;p4"/>
          <p:cNvSpPr/>
          <p:nvPr/>
        </p:nvSpPr>
        <p:spPr>
          <a:xfrm>
            <a:off x="457200" y="1078992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2DD4BF"/>
                </a:solidFill>
                <a:latin typeface="Consolas"/>
                <a:ea typeface="Consolas"/>
                <a:cs typeface="Consolas"/>
                <a:sym typeface="Consolas"/>
              </a:rPr>
              <a:t>THE PROBLEM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457200" y="1353312"/>
            <a:ext cx="1127729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Why existing document Q&amp;A falls short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457200" y="2286000"/>
            <a:ext cx="2545004" cy="3566160"/>
          </a:xfrm>
          <a:prstGeom prst="roundRect">
            <a:avLst>
              <a:gd fmla="val 3593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334155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457200" y="2286000"/>
            <a:ext cx="2545004" cy="10972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777240" y="2606040"/>
            <a:ext cx="822960" cy="822960"/>
          </a:xfrm>
          <a:prstGeom prst="ellipse">
            <a:avLst/>
          </a:prstGeom>
          <a:solidFill>
            <a:srgbClr val="E6FB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clock_dark.png" id="48" name="Google Shape;4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91210" y="2820010"/>
            <a:ext cx="395021" cy="395021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4"/>
          <p:cNvSpPr/>
          <p:nvPr/>
        </p:nvSpPr>
        <p:spPr>
          <a:xfrm>
            <a:off x="713232" y="3584448"/>
            <a:ext cx="20329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50"/>
              <a:buFont typeface="Georgia"/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Latency vs. timeout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713232" y="4343400"/>
            <a:ext cx="203294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Deep RAG pipelines take 8–15 s, but API Gateway enforces a hard 29 s HTTP timeout — almost no margin, failures under load.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3367964" y="2286000"/>
            <a:ext cx="2545004" cy="3566160"/>
          </a:xfrm>
          <a:prstGeom prst="roundRect">
            <a:avLst>
              <a:gd fmla="val 3593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334155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3367964" y="2286000"/>
            <a:ext cx="2545004" cy="10972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3688004" y="2606040"/>
            <a:ext cx="822960" cy="822960"/>
          </a:xfrm>
          <a:prstGeom prst="ellipse">
            <a:avLst/>
          </a:prstGeom>
          <a:solidFill>
            <a:srgbClr val="E6FB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search_dark.png" id="54" name="Google Shape;54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01973" y="2820010"/>
            <a:ext cx="395021" cy="39502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4"/>
          <p:cNvSpPr/>
          <p:nvPr/>
        </p:nvSpPr>
        <p:spPr>
          <a:xfrm>
            <a:off x="3623996" y="3584448"/>
            <a:ext cx="20329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50"/>
              <a:buFont typeface="Georgia"/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Retrieval quality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3623996" y="4343400"/>
            <a:ext cx="203294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Pure vector search misses exact keywords; pure BM25 misses paraphrases. Neither alone is production-grade.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6278728" y="2286000"/>
            <a:ext cx="2545004" cy="3566160"/>
          </a:xfrm>
          <a:prstGeom prst="roundRect">
            <a:avLst>
              <a:gd fmla="val 3593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334155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6278728" y="2286000"/>
            <a:ext cx="2545004" cy="10972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6598768" y="2606040"/>
            <a:ext cx="822960" cy="822960"/>
          </a:xfrm>
          <a:prstGeom prst="ellipse">
            <a:avLst/>
          </a:prstGeom>
          <a:solidFill>
            <a:srgbClr val="E6FB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ban_dark.png" id="60" name="Google Shape;60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12737" y="2820010"/>
            <a:ext cx="395021" cy="395021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4"/>
          <p:cNvSpPr/>
          <p:nvPr/>
        </p:nvSpPr>
        <p:spPr>
          <a:xfrm>
            <a:off x="6534760" y="3584448"/>
            <a:ext cx="20329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50"/>
              <a:buFont typeface="Georgia"/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Rate-limit fragility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6534760" y="4343400"/>
            <a:ext cx="203294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LLM APIs enforce strict rate limits. A system that fails on exhaustion is unreliable for real workloads.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9189491" y="2286000"/>
            <a:ext cx="2545004" cy="3566160"/>
          </a:xfrm>
          <a:prstGeom prst="roundRect">
            <a:avLst>
              <a:gd fmla="val 3593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334155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9189491" y="2286000"/>
            <a:ext cx="2545004" cy="10972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9509531" y="2606040"/>
            <a:ext cx="822960" cy="822960"/>
          </a:xfrm>
          <a:prstGeom prst="ellipse">
            <a:avLst/>
          </a:prstGeom>
          <a:solidFill>
            <a:srgbClr val="E6FB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lock_dark.png" id="66" name="Google Shape;66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723501" y="2820010"/>
            <a:ext cx="395021" cy="395021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4"/>
          <p:cNvSpPr/>
          <p:nvPr/>
        </p:nvSpPr>
        <p:spPr>
          <a:xfrm>
            <a:off x="9445523" y="3584448"/>
            <a:ext cx="20329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50"/>
              <a:buFont typeface="Georgia"/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Multi-user leakage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9445523" y="4343400"/>
            <a:ext cx="203294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Shared embedding stores without isolation can expose one user's documents to another's queries.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9448495" y="644652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MindAgent  ·  Problem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proc/logo_left_pill.png" id="75" name="Google Shape;7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92608"/>
            <a:ext cx="957473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ets/proc/logo_right_pill.png" id="76" name="Google Shape;7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42183" y="292608"/>
            <a:ext cx="1292312" cy="4206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7" name="Google Shape;77;p5"/>
          <p:cNvCxnSpPr/>
          <p:nvPr/>
        </p:nvCxnSpPr>
        <p:spPr>
          <a:xfrm>
            <a:off x="457200" y="868680"/>
            <a:ext cx="11277295" cy="0"/>
          </a:xfrm>
          <a:prstGeom prst="straightConnector1">
            <a:avLst/>
          </a:prstGeom>
          <a:noFill/>
          <a:ln cap="flat" cmpd="sng" w="12700">
            <a:solidFill>
              <a:srgbClr val="22304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5"/>
          <p:cNvSpPr/>
          <p:nvPr/>
        </p:nvSpPr>
        <p:spPr>
          <a:xfrm>
            <a:off x="457200" y="1078992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2DD4BF"/>
                </a:solidFill>
                <a:latin typeface="Consolas"/>
                <a:ea typeface="Consolas"/>
                <a:cs typeface="Consolas"/>
                <a:sym typeface="Consolas"/>
              </a:rPr>
              <a:t>PROJECT OBJECTIVES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457200" y="1353312"/>
            <a:ext cx="1127729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What MindAgent set out to build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457200" y="2240280"/>
            <a:ext cx="5410048" cy="1078992"/>
          </a:xfrm>
          <a:prstGeom prst="roundRect">
            <a:avLst>
              <a:gd fmla="val 6780" name="adj"/>
            </a:avLst>
          </a:prstGeom>
          <a:solidFill>
            <a:srgbClr val="16223A"/>
          </a:solidFill>
          <a:ln cap="flat" cmpd="sng" w="12700">
            <a:solidFill>
              <a:srgbClr val="2230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658368" y="2441448"/>
            <a:ext cx="676656" cy="676656"/>
          </a:xfrm>
          <a:prstGeom prst="ellipse">
            <a:avLst/>
          </a:prstGeom>
          <a:solidFill>
            <a:srgbClr val="0E2A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server_teal.png" id="82" name="Google Shape;82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4299" y="2617379"/>
            <a:ext cx="324795" cy="32479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5"/>
          <p:cNvSpPr/>
          <p:nvPr/>
        </p:nvSpPr>
        <p:spPr>
          <a:xfrm>
            <a:off x="1481328" y="2404872"/>
            <a:ext cx="42213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Georgia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Fully serverless RAG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1481328" y="2743200"/>
            <a:ext cx="42213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Complete PDF→answer lifecycle on AWS Lambda — no persistent servers.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6324448" y="2240280"/>
            <a:ext cx="5410048" cy="1078992"/>
          </a:xfrm>
          <a:prstGeom prst="roundRect">
            <a:avLst>
              <a:gd fmla="val 6780" name="adj"/>
            </a:avLst>
          </a:prstGeom>
          <a:solidFill>
            <a:srgbClr val="16223A"/>
          </a:solidFill>
          <a:ln cap="flat" cmpd="sng" w="12700">
            <a:solidFill>
              <a:srgbClr val="2230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6525616" y="2441448"/>
            <a:ext cx="676656" cy="676656"/>
          </a:xfrm>
          <a:prstGeom prst="ellipse">
            <a:avLst/>
          </a:prstGeom>
          <a:solidFill>
            <a:srgbClr val="0E2A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sync_teal.png" id="87" name="Google Shape;87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01546" y="2617379"/>
            <a:ext cx="324795" cy="32479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"/>
          <p:cNvSpPr/>
          <p:nvPr/>
        </p:nvSpPr>
        <p:spPr>
          <a:xfrm>
            <a:off x="7348576" y="2404872"/>
            <a:ext cx="42213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Georgia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Async submit-poll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7348576" y="2743200"/>
            <a:ext cx="42213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SQS-backed pattern that defeats the 29 s API Gateway timeout entirely.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457200" y="3520440"/>
            <a:ext cx="5410048" cy="1078992"/>
          </a:xfrm>
          <a:prstGeom prst="roundRect">
            <a:avLst>
              <a:gd fmla="val 6780" name="adj"/>
            </a:avLst>
          </a:prstGeom>
          <a:solidFill>
            <a:srgbClr val="16223A"/>
          </a:solidFill>
          <a:ln cap="flat" cmpd="sng" w="12700">
            <a:solidFill>
              <a:srgbClr val="2230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658368" y="3721608"/>
            <a:ext cx="676656" cy="676656"/>
          </a:xfrm>
          <a:prstGeom prst="ellipse">
            <a:avLst/>
          </a:prstGeom>
          <a:solidFill>
            <a:srgbClr val="0E2A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search_teal.png" id="92" name="Google Shape;92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4299" y="3897539"/>
            <a:ext cx="324795" cy="32479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5"/>
          <p:cNvSpPr/>
          <p:nvPr/>
        </p:nvSpPr>
        <p:spPr>
          <a:xfrm>
            <a:off x="1481328" y="3685032"/>
            <a:ext cx="42213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Georgia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Hybrid retrieval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1481328" y="4023360"/>
            <a:ext cx="42213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HNSW vectors + BM25 keyword search fused via Reciprocal Rank Fusion.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6324448" y="3520440"/>
            <a:ext cx="5410048" cy="1078992"/>
          </a:xfrm>
          <a:prstGeom prst="roundRect">
            <a:avLst>
              <a:gd fmla="val 6780" name="adj"/>
            </a:avLst>
          </a:prstGeom>
          <a:solidFill>
            <a:srgbClr val="16223A"/>
          </a:solidFill>
          <a:ln cap="flat" cmpd="sng" w="12700">
            <a:solidFill>
              <a:srgbClr val="2230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6525616" y="3721608"/>
            <a:ext cx="676656" cy="676656"/>
          </a:xfrm>
          <a:prstGeom prst="ellipse">
            <a:avLst/>
          </a:prstGeom>
          <a:solidFill>
            <a:srgbClr val="0E2A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brain_teal.png" id="97" name="Google Shape;97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01546" y="3897539"/>
            <a:ext cx="324795" cy="32479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5"/>
          <p:cNvSpPr/>
          <p:nvPr/>
        </p:nvSpPr>
        <p:spPr>
          <a:xfrm>
            <a:off x="7348576" y="3685032"/>
            <a:ext cx="42213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Georgia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Conditional HyDE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7348576" y="4023360"/>
            <a:ext cx="42213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Hypothetical Document Embeddings, triggered only when RRF &lt; 0.02.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457200" y="4800600"/>
            <a:ext cx="5410048" cy="1078992"/>
          </a:xfrm>
          <a:prstGeom prst="roundRect">
            <a:avLst>
              <a:gd fmla="val 6780" name="adj"/>
            </a:avLst>
          </a:prstGeom>
          <a:solidFill>
            <a:srgbClr val="16223A"/>
          </a:solidFill>
          <a:ln cap="flat" cmpd="sng" w="12700">
            <a:solidFill>
              <a:srgbClr val="2230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658368" y="5001768"/>
            <a:ext cx="676656" cy="676656"/>
          </a:xfrm>
          <a:prstGeom prst="ellipse">
            <a:avLst/>
          </a:prstGeom>
          <a:solidFill>
            <a:srgbClr val="0E2A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filter_teal.png" id="102" name="Google Shape;102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4299" y="5177699"/>
            <a:ext cx="324795" cy="32479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5"/>
          <p:cNvSpPr/>
          <p:nvPr/>
        </p:nvSpPr>
        <p:spPr>
          <a:xfrm>
            <a:off x="1481328" y="4965192"/>
            <a:ext cx="42213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Georgia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MMR reranking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1481328" y="5303520"/>
            <a:ext cx="42213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λ=0.7 diversity-aware selection of non-redundant context chunks.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6324448" y="4800600"/>
            <a:ext cx="5410048" cy="1078992"/>
          </a:xfrm>
          <a:prstGeom prst="roundRect">
            <a:avLst>
              <a:gd fmla="val 6780" name="adj"/>
            </a:avLst>
          </a:prstGeom>
          <a:solidFill>
            <a:srgbClr val="16223A"/>
          </a:solidFill>
          <a:ln cap="flat" cmpd="sng" w="12700">
            <a:solidFill>
              <a:srgbClr val="2230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6525616" y="5001768"/>
            <a:ext cx="676656" cy="676656"/>
          </a:xfrm>
          <a:prstGeom prst="ellipse">
            <a:avLst/>
          </a:prstGeom>
          <a:solidFill>
            <a:srgbClr val="0E2A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shield_teal.png" id="107" name="Google Shape;107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701546" y="5177699"/>
            <a:ext cx="324795" cy="32479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5"/>
          <p:cNvSpPr/>
          <p:nvPr/>
        </p:nvSpPr>
        <p:spPr>
          <a:xfrm>
            <a:off x="7348576" y="4965192"/>
            <a:ext cx="42213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Georgia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Multi-tenant isolation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7348576" y="5303520"/>
            <a:ext cx="42213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Supabase Row-Level Security + user-scoped cache keys.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9448495" y="644652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MindAgent  ·  Objectives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ChandigarhUni-head-left.png" id="116" name="Google Shape;11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10896"/>
            <a:ext cx="1005302" cy="384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ets/cu-online-head-right.png" id="117" name="Google Shape;11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06209" y="329184"/>
            <a:ext cx="1328286" cy="3657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8" name="Google Shape;118;p6"/>
          <p:cNvCxnSpPr/>
          <p:nvPr/>
        </p:nvCxnSpPr>
        <p:spPr>
          <a:xfrm>
            <a:off x="457200" y="868680"/>
            <a:ext cx="11277295" cy="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" name="Google Shape;119;p6"/>
          <p:cNvSpPr/>
          <p:nvPr/>
        </p:nvSpPr>
        <p:spPr>
          <a:xfrm>
            <a:off x="457200" y="1078992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2DD4BF"/>
                </a:solidFill>
                <a:latin typeface="Consolas"/>
                <a:ea typeface="Consolas"/>
                <a:cs typeface="Consolas"/>
                <a:sym typeface="Consolas"/>
              </a:rPr>
              <a:t>DESIGN · 3.1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457200" y="1353312"/>
            <a:ext cx="1127729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System Architecture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457200" y="1993392"/>
            <a:ext cx="11277295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Two independent async pipelines — query and ingestion — decoupled via SQS, sharing a Supabase + Redis data layer. Entirely serverless.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3808977" y="2432304"/>
            <a:ext cx="4573742" cy="3877056"/>
          </a:xfrm>
          <a:prstGeom prst="roundRect">
            <a:avLst>
              <a:gd fmla="val 188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334155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diagram_0.png" id="123" name="Google Shape;123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18705" y="2542032"/>
            <a:ext cx="4354286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6"/>
          <p:cNvSpPr/>
          <p:nvPr/>
        </p:nvSpPr>
        <p:spPr>
          <a:xfrm>
            <a:off x="9448495" y="644652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MindAgent  ·  Architecture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proc/logo_left_pill.png" id="130" name="Google Shape;13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92608"/>
            <a:ext cx="957473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ets/proc/logo_right_pill.png" id="131" name="Google Shape;13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42183" y="292608"/>
            <a:ext cx="1292312" cy="4206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2" name="Google Shape;132;p7"/>
          <p:cNvCxnSpPr/>
          <p:nvPr/>
        </p:nvCxnSpPr>
        <p:spPr>
          <a:xfrm>
            <a:off x="457200" y="868680"/>
            <a:ext cx="11277295" cy="0"/>
          </a:xfrm>
          <a:prstGeom prst="straightConnector1">
            <a:avLst/>
          </a:prstGeom>
          <a:noFill/>
          <a:ln cap="flat" cmpd="sng" w="12700">
            <a:solidFill>
              <a:srgbClr val="22304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3" name="Google Shape;133;p7"/>
          <p:cNvSpPr/>
          <p:nvPr/>
        </p:nvSpPr>
        <p:spPr>
          <a:xfrm>
            <a:off x="457200" y="1078992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2DD4BF"/>
                </a:solidFill>
                <a:latin typeface="Consolas"/>
                <a:ea typeface="Consolas"/>
                <a:cs typeface="Consolas"/>
                <a:sym typeface="Consolas"/>
              </a:rPr>
              <a:t>DESIGN · 3.1.2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457200" y="1353312"/>
            <a:ext cx="1127729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Document Ingestion Pipeline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365760" y="2286000"/>
            <a:ext cx="7223760" cy="3421685"/>
          </a:xfrm>
          <a:prstGeom prst="roundRect">
            <a:avLst>
              <a:gd fmla="val 2138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81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diagram_1.png" id="136" name="Google Shape;136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" y="2377440"/>
            <a:ext cx="7040880" cy="323880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7"/>
          <p:cNvSpPr/>
          <p:nvPr/>
        </p:nvSpPr>
        <p:spPr>
          <a:xfrm>
            <a:off x="7818120" y="2514600"/>
            <a:ext cx="603504" cy="603504"/>
          </a:xfrm>
          <a:prstGeom prst="ellipse">
            <a:avLst/>
          </a:prstGeom>
          <a:solidFill>
            <a:srgbClr val="0E2A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file_teal.png" id="138" name="Google Shape;138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75031" y="2671511"/>
            <a:ext cx="289682" cy="289682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7"/>
          <p:cNvSpPr/>
          <p:nvPr/>
        </p:nvSpPr>
        <p:spPr>
          <a:xfrm>
            <a:off x="8595360" y="2496312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Georgia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Windowed chunking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8595360" y="2825496"/>
            <a:ext cx="3474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50-page windows · 3-page overlap → ~500-char segments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7818120" y="3657600"/>
            <a:ext cx="603504" cy="603504"/>
          </a:xfrm>
          <a:prstGeom prst="ellipse">
            <a:avLst/>
          </a:prstGeom>
          <a:solidFill>
            <a:srgbClr val="0E2A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micro_teal.png" id="142" name="Google Shape;142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75031" y="3814511"/>
            <a:ext cx="289682" cy="289682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7"/>
          <p:cNvSpPr/>
          <p:nvPr/>
        </p:nvSpPr>
        <p:spPr>
          <a:xfrm>
            <a:off x="8595360" y="3639312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Georgia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Async embedding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8595360" y="3968496"/>
            <a:ext cx="3474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Voyage AI voyage-large-2 → 1,024-dim dense vectors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7818120" y="4800600"/>
            <a:ext cx="603504" cy="603504"/>
          </a:xfrm>
          <a:prstGeom prst="ellipse">
            <a:avLst/>
          </a:prstGeom>
          <a:solidFill>
            <a:srgbClr val="0E2A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db_teal.png" id="146" name="Google Shape;146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975031" y="4957511"/>
            <a:ext cx="289682" cy="289682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7"/>
          <p:cNvSpPr/>
          <p:nvPr/>
        </p:nvSpPr>
        <p:spPr>
          <a:xfrm>
            <a:off x="8595360" y="4782312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Georgia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Status lifecycle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8595360" y="5111496"/>
            <a:ext cx="3474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pending → processing → indexing → ready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9448495" y="644652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MindAgent  ·  Ingestion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ChandigarhUni-head-left.png" id="155" name="Google Shape;15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10896"/>
            <a:ext cx="1005302" cy="384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ets/cu-online-head-right.png" id="156" name="Google Shape;15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06209" y="329184"/>
            <a:ext cx="1328286" cy="3657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8"/>
          <p:cNvCxnSpPr/>
          <p:nvPr/>
        </p:nvCxnSpPr>
        <p:spPr>
          <a:xfrm>
            <a:off x="457200" y="868680"/>
            <a:ext cx="11277295" cy="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p8"/>
          <p:cNvSpPr/>
          <p:nvPr/>
        </p:nvSpPr>
        <p:spPr>
          <a:xfrm>
            <a:off x="457200" y="1078992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2DD4BF"/>
                </a:solidFill>
                <a:latin typeface="Consolas"/>
                <a:ea typeface="Consolas"/>
                <a:cs typeface="Consolas"/>
                <a:sym typeface="Consolas"/>
              </a:rPr>
              <a:t>DESIGN · 3.4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457200" y="1353312"/>
            <a:ext cx="1127729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Entity Relationship Model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diagram_4.png" id="160" name="Google Shape;160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" y="2331720"/>
            <a:ext cx="4689231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8"/>
          <p:cNvSpPr/>
          <p:nvPr/>
        </p:nvSpPr>
        <p:spPr>
          <a:xfrm>
            <a:off x="5943600" y="2468880"/>
            <a:ext cx="5760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Five-table schema in the rag schema (Supabase PostgreSQL 15).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5943600" y="3063240"/>
            <a:ext cx="73152" cy="56692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6144768" y="3063240"/>
            <a:ext cx="5577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chunks  </a:t>
            </a:r>
            <a:r>
              <a:rPr b="0" i="0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VECTOR(1024) embedding + generated tsvector for BM25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5943600" y="3758184"/>
            <a:ext cx="73152" cy="56692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6144768" y="3758184"/>
            <a:ext cx="5577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documents  </a:t>
            </a:r>
            <a:r>
              <a:rPr b="0" i="0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S3 key, status, chunk_count — owned per user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5943600" y="4453128"/>
            <a:ext cx="73152" cy="56692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6144768" y="4453128"/>
            <a:ext cx="5577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conversations  </a:t>
            </a:r>
            <a:r>
              <a:rPr b="0" i="0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Optional document scope, rolling summary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5943600" y="5148072"/>
            <a:ext cx="73152" cy="56692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6144768" y="5148072"/>
            <a:ext cx="5577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RLS  </a:t>
            </a:r>
            <a:r>
              <a:rPr b="0" i="0" lang="en-US" sz="11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Every table filtered by JWT subject = user_id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9448495" y="644652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MindAgent  ·  Data Model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proc/logo_left_pill.png" id="176" name="Google Shape;1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92608"/>
            <a:ext cx="957473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ets/proc/logo_right_pill.png" id="177" name="Google Shape;17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42183" y="292608"/>
            <a:ext cx="1292312" cy="4206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8" name="Google Shape;178;p9"/>
          <p:cNvCxnSpPr/>
          <p:nvPr/>
        </p:nvCxnSpPr>
        <p:spPr>
          <a:xfrm>
            <a:off x="457200" y="868680"/>
            <a:ext cx="11277295" cy="0"/>
          </a:xfrm>
          <a:prstGeom prst="straightConnector1">
            <a:avLst/>
          </a:prstGeom>
          <a:noFill/>
          <a:ln cap="flat" cmpd="sng" w="12700">
            <a:solidFill>
              <a:srgbClr val="22304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p9"/>
          <p:cNvSpPr/>
          <p:nvPr/>
        </p:nvSpPr>
        <p:spPr>
          <a:xfrm>
            <a:off x="457200" y="1078992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2DD4BF"/>
                </a:solidFill>
                <a:latin typeface="Consolas"/>
                <a:ea typeface="Consolas"/>
                <a:cs typeface="Consolas"/>
                <a:sym typeface="Consolas"/>
              </a:rPr>
              <a:t>CORE LOGIC · 14 STEPS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457200" y="1353312"/>
            <a:ext cx="1127729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Confidence-Driven Query Pipeline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548640" y="2697480"/>
            <a:ext cx="1993392" cy="2286000"/>
          </a:xfrm>
          <a:prstGeom prst="roundRect">
            <a:avLst>
              <a:gd fmla="val 4587" name="adj"/>
            </a:avLst>
          </a:prstGeom>
          <a:solidFill>
            <a:srgbClr val="16223A"/>
          </a:solidFill>
          <a:ln cap="flat" cmpd="sng" w="12700">
            <a:solidFill>
              <a:srgbClr val="2230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"/>
          <p:cNvSpPr/>
          <p:nvPr/>
        </p:nvSpPr>
        <p:spPr>
          <a:xfrm>
            <a:off x="1133856" y="2953512"/>
            <a:ext cx="822960" cy="822960"/>
          </a:xfrm>
          <a:prstGeom prst="ellipse">
            <a:avLst/>
          </a:prstGeom>
          <a:solidFill>
            <a:srgbClr val="0E2A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comments_teal.png" id="183" name="Google Shape;183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07592" y="3127248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9"/>
          <p:cNvSpPr/>
          <p:nvPr/>
        </p:nvSpPr>
        <p:spPr>
          <a:xfrm>
            <a:off x="548640" y="3867912"/>
            <a:ext cx="199339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2DD4BF"/>
                </a:solidFill>
                <a:latin typeface="Consolas"/>
                <a:ea typeface="Consolas"/>
                <a:cs typeface="Consolas"/>
                <a:sym typeface="Consolas"/>
              </a:rPr>
              <a:t>STEP 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548640" y="4069080"/>
            <a:ext cx="19933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Submit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658368" y="4398264"/>
            <a:ext cx="177393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POST /query →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SQS job_id, 200 OK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icons/arrow_teal.png" id="187" name="Google Shape;187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78608" y="36576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9"/>
          <p:cNvSpPr/>
          <p:nvPr/>
        </p:nvSpPr>
        <p:spPr>
          <a:xfrm>
            <a:off x="2852928" y="2697480"/>
            <a:ext cx="1993392" cy="2286000"/>
          </a:xfrm>
          <a:prstGeom prst="roundRect">
            <a:avLst>
              <a:gd fmla="val 4587" name="adj"/>
            </a:avLst>
          </a:prstGeom>
          <a:solidFill>
            <a:srgbClr val="16223A"/>
          </a:solidFill>
          <a:ln cap="flat" cmpd="sng" w="12700">
            <a:solidFill>
              <a:srgbClr val="2230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3438144" y="2953512"/>
            <a:ext cx="822960" cy="822960"/>
          </a:xfrm>
          <a:prstGeom prst="ellipse">
            <a:avLst/>
          </a:prstGeom>
          <a:solidFill>
            <a:srgbClr val="0E2A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db_teal.png" id="190" name="Google Shape;190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11880" y="3127248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9"/>
          <p:cNvSpPr/>
          <p:nvPr/>
        </p:nvSpPr>
        <p:spPr>
          <a:xfrm>
            <a:off x="2852928" y="3867912"/>
            <a:ext cx="199339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2DD4BF"/>
                </a:solidFill>
                <a:latin typeface="Consolas"/>
                <a:ea typeface="Consolas"/>
                <a:cs typeface="Consolas"/>
                <a:sym typeface="Consolas"/>
              </a:rPr>
              <a:t>STEP 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2852928" y="4069080"/>
            <a:ext cx="19933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Retrieve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2962656" y="4398264"/>
            <a:ext cx="177393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Embed → hybrid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HNSW + BM25 (RRF)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icons/arrow_teal.png" id="194" name="Google Shape;194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82896" y="36576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9"/>
          <p:cNvSpPr/>
          <p:nvPr/>
        </p:nvSpPr>
        <p:spPr>
          <a:xfrm>
            <a:off x="5157216" y="2697480"/>
            <a:ext cx="1993392" cy="2286000"/>
          </a:xfrm>
          <a:prstGeom prst="roundRect">
            <a:avLst>
              <a:gd fmla="val 4587" name="adj"/>
            </a:avLst>
          </a:prstGeom>
          <a:solidFill>
            <a:srgbClr val="16223A"/>
          </a:solidFill>
          <a:ln cap="flat" cmpd="sng" w="12700">
            <a:solidFill>
              <a:srgbClr val="2230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"/>
          <p:cNvSpPr/>
          <p:nvPr/>
        </p:nvSpPr>
        <p:spPr>
          <a:xfrm>
            <a:off x="5742432" y="2953512"/>
            <a:ext cx="822960" cy="822960"/>
          </a:xfrm>
          <a:prstGeom prst="ellipse">
            <a:avLst/>
          </a:prstGeom>
          <a:solidFill>
            <a:srgbClr val="0E2A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brain_teal.png" id="197" name="Google Shape;197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16168" y="3127248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9"/>
          <p:cNvSpPr/>
          <p:nvPr/>
        </p:nvSpPr>
        <p:spPr>
          <a:xfrm>
            <a:off x="5157216" y="3867912"/>
            <a:ext cx="199339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2DD4BF"/>
                </a:solidFill>
                <a:latin typeface="Consolas"/>
                <a:ea typeface="Consolas"/>
                <a:cs typeface="Consolas"/>
                <a:sym typeface="Consolas"/>
              </a:rPr>
              <a:t>STEP 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5157216" y="4069080"/>
            <a:ext cx="19933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Enhance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5266944" y="4398264"/>
            <a:ext cx="177393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RRF &lt; 0.02 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conditional HyDE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icons/arrow_teal.png" id="201" name="Google Shape;201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87184" y="36576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9"/>
          <p:cNvSpPr/>
          <p:nvPr/>
        </p:nvSpPr>
        <p:spPr>
          <a:xfrm>
            <a:off x="7461504" y="2697480"/>
            <a:ext cx="1993392" cy="2286000"/>
          </a:xfrm>
          <a:prstGeom prst="roundRect">
            <a:avLst>
              <a:gd fmla="val 4587" name="adj"/>
            </a:avLst>
          </a:prstGeom>
          <a:solidFill>
            <a:srgbClr val="16223A"/>
          </a:solidFill>
          <a:ln cap="flat" cmpd="sng" w="12700">
            <a:solidFill>
              <a:srgbClr val="2230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8046720" y="2953512"/>
            <a:ext cx="822960" cy="822960"/>
          </a:xfrm>
          <a:prstGeom prst="ellipse">
            <a:avLst/>
          </a:prstGeom>
          <a:solidFill>
            <a:srgbClr val="0E2A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filter_teal.png" id="204" name="Google Shape;204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220456" y="3127248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9"/>
          <p:cNvSpPr/>
          <p:nvPr/>
        </p:nvSpPr>
        <p:spPr>
          <a:xfrm>
            <a:off x="7461504" y="3867912"/>
            <a:ext cx="199339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2DD4BF"/>
                </a:solidFill>
                <a:latin typeface="Consolas"/>
                <a:ea typeface="Consolas"/>
                <a:cs typeface="Consolas"/>
                <a:sym typeface="Consolas"/>
              </a:rPr>
              <a:t>STEP 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7461504" y="4069080"/>
            <a:ext cx="19933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Rerank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7571232" y="4398264"/>
            <a:ext cx="177393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MMR λ=0.7 →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top-5 diverse chunks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icons/arrow_teal.png" id="208" name="Google Shape;208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491472" y="36576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9"/>
          <p:cNvSpPr/>
          <p:nvPr/>
        </p:nvSpPr>
        <p:spPr>
          <a:xfrm>
            <a:off x="9765792" y="2697480"/>
            <a:ext cx="1993392" cy="2286000"/>
          </a:xfrm>
          <a:prstGeom prst="roundRect">
            <a:avLst>
              <a:gd fmla="val 4587" name="adj"/>
            </a:avLst>
          </a:prstGeom>
          <a:solidFill>
            <a:srgbClr val="16223A"/>
          </a:solidFill>
          <a:ln cap="flat" cmpd="sng" w="12700">
            <a:solidFill>
              <a:srgbClr val="2230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"/>
          <p:cNvSpPr/>
          <p:nvPr/>
        </p:nvSpPr>
        <p:spPr>
          <a:xfrm>
            <a:off x="10351008" y="2953512"/>
            <a:ext cx="822960" cy="822960"/>
          </a:xfrm>
          <a:prstGeom prst="ellipse">
            <a:avLst/>
          </a:prstGeom>
          <a:solidFill>
            <a:srgbClr val="0E2A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bolt_teal.png" id="211" name="Google Shape;211;p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524744" y="3127248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9"/>
          <p:cNvSpPr/>
          <p:nvPr/>
        </p:nvSpPr>
        <p:spPr>
          <a:xfrm>
            <a:off x="9765792" y="3867912"/>
            <a:ext cx="199339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2DD4BF"/>
                </a:solidFill>
                <a:latin typeface="Consolas"/>
                <a:ea typeface="Consolas"/>
                <a:cs typeface="Consolas"/>
                <a:sym typeface="Consolas"/>
              </a:rPr>
              <a:t>STEP 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9765792" y="4069080"/>
            <a:ext cx="19933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Generate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9875520" y="4398264"/>
            <a:ext cx="177393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Sarvam AI →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answer + sources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548640" y="5257800"/>
            <a:ext cx="11094415" cy="868680"/>
          </a:xfrm>
          <a:prstGeom prst="roundRect">
            <a:avLst>
              <a:gd fmla="val 8421" name="adj"/>
            </a:avLst>
          </a:prstGeom>
          <a:solidFill>
            <a:srgbClr val="111B2E"/>
          </a:solidFill>
          <a:ln cap="flat" cmpd="sng" w="12700">
            <a:solidFill>
              <a:srgbClr val="2230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sync_amber.png" id="216" name="Google Shape;216;p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77240" y="546811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9"/>
          <p:cNvSpPr/>
          <p:nvPr/>
        </p:nvSpPr>
        <p:spPr>
          <a:xfrm>
            <a:off x="1417320" y="5394960"/>
            <a:ext cx="1008857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rPr>
              <a:t>Rate-limit resilience:  </a:t>
            </a:r>
            <a:r>
              <a:rPr b="0" i="0" lang="en-US" sz="12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 Redis sliding-window token bucket enforces Sarvam's 60 calls/60 s limit. On exhaustion the job is re-queued via SQS visibility timeout — never a failed query, never a degraded answer.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9448495" y="644652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MindAgent  ·  Query Pipeline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ChandigarhUni-head-left.png" id="224" name="Google Shape;22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10896"/>
            <a:ext cx="1005302" cy="384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ets/cu-online-head-right.png" id="225" name="Google Shape;22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06209" y="329184"/>
            <a:ext cx="1328286" cy="3657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6" name="Google Shape;226;p10"/>
          <p:cNvCxnSpPr/>
          <p:nvPr/>
        </p:nvCxnSpPr>
        <p:spPr>
          <a:xfrm>
            <a:off x="457200" y="868680"/>
            <a:ext cx="11277295" cy="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7" name="Google Shape;227;p10"/>
          <p:cNvSpPr/>
          <p:nvPr/>
        </p:nvSpPr>
        <p:spPr>
          <a:xfrm>
            <a:off x="457200" y="1078992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2DD4BF"/>
                </a:solidFill>
                <a:latin typeface="Consolas"/>
                <a:ea typeface="Consolas"/>
                <a:cs typeface="Consolas"/>
                <a:sym typeface="Consolas"/>
              </a:rPr>
              <a:t>IMPLEMENTATION · 4.1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457200" y="1353312"/>
            <a:ext cx="1127729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Technology Stack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457200" y="2286000"/>
            <a:ext cx="2579294" cy="1078992"/>
          </a:xfrm>
          <a:prstGeom prst="roundRect">
            <a:avLst>
              <a:gd fmla="val 678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334155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"/>
          <p:cNvSpPr/>
          <p:nvPr/>
        </p:nvSpPr>
        <p:spPr>
          <a:xfrm>
            <a:off x="457200" y="2286000"/>
            <a:ext cx="91440" cy="107899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0"/>
          <p:cNvSpPr/>
          <p:nvPr/>
        </p:nvSpPr>
        <p:spPr>
          <a:xfrm>
            <a:off x="713232" y="2450592"/>
            <a:ext cx="221353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0E7490"/>
                </a:solidFill>
                <a:latin typeface="Consolas"/>
                <a:ea typeface="Consolas"/>
                <a:cs typeface="Consolas"/>
                <a:sym typeface="Consolas"/>
              </a:rPr>
              <a:t>COMPUTE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713232" y="2743200"/>
            <a:ext cx="216781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AWS Lambda · Python 3.11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3356534" y="2286000"/>
            <a:ext cx="2579294" cy="1078992"/>
          </a:xfrm>
          <a:prstGeom prst="roundRect">
            <a:avLst>
              <a:gd fmla="val 678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334155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0"/>
          <p:cNvSpPr/>
          <p:nvPr/>
        </p:nvSpPr>
        <p:spPr>
          <a:xfrm>
            <a:off x="3356534" y="2286000"/>
            <a:ext cx="91440" cy="107899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0"/>
          <p:cNvSpPr/>
          <p:nvPr/>
        </p:nvSpPr>
        <p:spPr>
          <a:xfrm>
            <a:off x="3612566" y="2450592"/>
            <a:ext cx="221353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0E7490"/>
                </a:solidFill>
                <a:latin typeface="Consolas"/>
                <a:ea typeface="Consolas"/>
                <a:cs typeface="Consolas"/>
                <a:sym typeface="Consolas"/>
              </a:rPr>
              <a:t>API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3612566" y="2743200"/>
            <a:ext cx="216781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API Gateway (HTTP)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6255868" y="2286000"/>
            <a:ext cx="2579294" cy="1078992"/>
          </a:xfrm>
          <a:prstGeom prst="roundRect">
            <a:avLst>
              <a:gd fmla="val 678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334155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0"/>
          <p:cNvSpPr/>
          <p:nvPr/>
        </p:nvSpPr>
        <p:spPr>
          <a:xfrm>
            <a:off x="6255868" y="2286000"/>
            <a:ext cx="91440" cy="107899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0"/>
          <p:cNvSpPr/>
          <p:nvPr/>
        </p:nvSpPr>
        <p:spPr>
          <a:xfrm>
            <a:off x="6511900" y="2450592"/>
            <a:ext cx="221353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0E7490"/>
                </a:solidFill>
                <a:latin typeface="Consolas"/>
                <a:ea typeface="Consolas"/>
                <a:cs typeface="Consolas"/>
                <a:sym typeface="Consolas"/>
              </a:rPr>
              <a:t>ASYNC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6511900" y="2743200"/>
            <a:ext cx="216781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SQS (Standard + FIFO)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9155201" y="2286000"/>
            <a:ext cx="2579294" cy="1078992"/>
          </a:xfrm>
          <a:prstGeom prst="roundRect">
            <a:avLst>
              <a:gd fmla="val 678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334155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0"/>
          <p:cNvSpPr/>
          <p:nvPr/>
        </p:nvSpPr>
        <p:spPr>
          <a:xfrm>
            <a:off x="9155201" y="2286000"/>
            <a:ext cx="91440" cy="107899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0"/>
          <p:cNvSpPr/>
          <p:nvPr/>
        </p:nvSpPr>
        <p:spPr>
          <a:xfrm>
            <a:off x="9411233" y="2450592"/>
            <a:ext cx="221353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0E7490"/>
                </a:solidFill>
                <a:latin typeface="Consolas"/>
                <a:ea typeface="Consolas"/>
                <a:cs typeface="Consolas"/>
                <a:sym typeface="Consolas"/>
              </a:rPr>
              <a:t>EVENTS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9411233" y="2743200"/>
            <a:ext cx="216781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SNS fan-out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457200" y="3639312"/>
            <a:ext cx="2579294" cy="1078992"/>
          </a:xfrm>
          <a:prstGeom prst="roundRect">
            <a:avLst>
              <a:gd fmla="val 678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334155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0"/>
          <p:cNvSpPr/>
          <p:nvPr/>
        </p:nvSpPr>
        <p:spPr>
          <a:xfrm>
            <a:off x="457200" y="3639312"/>
            <a:ext cx="91440" cy="107899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0"/>
          <p:cNvSpPr/>
          <p:nvPr/>
        </p:nvSpPr>
        <p:spPr>
          <a:xfrm>
            <a:off x="713232" y="3803904"/>
            <a:ext cx="221353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0E7490"/>
                </a:solidFill>
                <a:latin typeface="Consolas"/>
                <a:ea typeface="Consolas"/>
                <a:cs typeface="Consolas"/>
                <a:sym typeface="Consolas"/>
              </a:rPr>
              <a:t>STORAGE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713232" y="4096512"/>
            <a:ext cx="216781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AWS S3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3356534" y="3639312"/>
            <a:ext cx="2579294" cy="1078992"/>
          </a:xfrm>
          <a:prstGeom prst="roundRect">
            <a:avLst>
              <a:gd fmla="val 678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334155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0"/>
          <p:cNvSpPr/>
          <p:nvPr/>
        </p:nvSpPr>
        <p:spPr>
          <a:xfrm>
            <a:off x="3356534" y="3639312"/>
            <a:ext cx="91440" cy="107899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0"/>
          <p:cNvSpPr/>
          <p:nvPr/>
        </p:nvSpPr>
        <p:spPr>
          <a:xfrm>
            <a:off x="3612566" y="3803904"/>
            <a:ext cx="221353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0E7490"/>
                </a:solidFill>
                <a:latin typeface="Consolas"/>
                <a:ea typeface="Consolas"/>
                <a:cs typeface="Consolas"/>
                <a:sym typeface="Consolas"/>
              </a:rPr>
              <a:t>DATABASE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3612566" y="4096512"/>
            <a:ext cx="216781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Supabase · PostgreSQL 15 + pgvector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6255868" y="3639312"/>
            <a:ext cx="2579294" cy="1078992"/>
          </a:xfrm>
          <a:prstGeom prst="roundRect">
            <a:avLst>
              <a:gd fmla="val 678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334155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0"/>
          <p:cNvSpPr/>
          <p:nvPr/>
        </p:nvSpPr>
        <p:spPr>
          <a:xfrm>
            <a:off x="6255868" y="3639312"/>
            <a:ext cx="91440" cy="107899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0"/>
          <p:cNvSpPr/>
          <p:nvPr/>
        </p:nvSpPr>
        <p:spPr>
          <a:xfrm>
            <a:off x="6511900" y="3803904"/>
            <a:ext cx="221353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0E7490"/>
                </a:solidFill>
                <a:latin typeface="Consolas"/>
                <a:ea typeface="Consolas"/>
                <a:cs typeface="Consolas"/>
                <a:sym typeface="Consolas"/>
              </a:rPr>
              <a:t>CACHE / RATE-LIMIT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6511900" y="4096512"/>
            <a:ext cx="216781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Upstash Redis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9155201" y="3639312"/>
            <a:ext cx="2579294" cy="1078992"/>
          </a:xfrm>
          <a:prstGeom prst="roundRect">
            <a:avLst>
              <a:gd fmla="val 678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334155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0"/>
          <p:cNvSpPr/>
          <p:nvPr/>
        </p:nvSpPr>
        <p:spPr>
          <a:xfrm>
            <a:off x="9155201" y="3639312"/>
            <a:ext cx="91440" cy="107899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0"/>
          <p:cNvSpPr/>
          <p:nvPr/>
        </p:nvSpPr>
        <p:spPr>
          <a:xfrm>
            <a:off x="9411233" y="3803904"/>
            <a:ext cx="221353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0E7490"/>
                </a:solidFill>
                <a:latin typeface="Consolas"/>
                <a:ea typeface="Consolas"/>
                <a:cs typeface="Consolas"/>
                <a:sym typeface="Consolas"/>
              </a:rPr>
              <a:t>EMBEDDINGS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9411233" y="4096512"/>
            <a:ext cx="216781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Voyage AI · voyage-large-2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457200" y="4992624"/>
            <a:ext cx="2579294" cy="1078992"/>
          </a:xfrm>
          <a:prstGeom prst="roundRect">
            <a:avLst>
              <a:gd fmla="val 678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334155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0"/>
          <p:cNvSpPr/>
          <p:nvPr/>
        </p:nvSpPr>
        <p:spPr>
          <a:xfrm>
            <a:off x="457200" y="4992624"/>
            <a:ext cx="91440" cy="107899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0"/>
          <p:cNvSpPr/>
          <p:nvPr/>
        </p:nvSpPr>
        <p:spPr>
          <a:xfrm>
            <a:off x="713232" y="5157216"/>
            <a:ext cx="221353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0E7490"/>
                </a:solidFill>
                <a:latin typeface="Consolas"/>
                <a:ea typeface="Consolas"/>
                <a:cs typeface="Consolas"/>
                <a:sym typeface="Consolas"/>
              </a:rPr>
              <a:t>LLM / TTS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713232" y="5449824"/>
            <a:ext cx="216781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Sarvam AI · sarvam-m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3356534" y="4992624"/>
            <a:ext cx="2579294" cy="1078992"/>
          </a:xfrm>
          <a:prstGeom prst="roundRect">
            <a:avLst>
              <a:gd fmla="val 678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334155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0"/>
          <p:cNvSpPr/>
          <p:nvPr/>
        </p:nvSpPr>
        <p:spPr>
          <a:xfrm>
            <a:off x="3356534" y="4992624"/>
            <a:ext cx="91440" cy="107899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0"/>
          <p:cNvSpPr/>
          <p:nvPr/>
        </p:nvSpPr>
        <p:spPr>
          <a:xfrm>
            <a:off x="3612566" y="5157216"/>
            <a:ext cx="221353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0E7490"/>
                </a:solidFill>
                <a:latin typeface="Consolas"/>
                <a:ea typeface="Consolas"/>
                <a:cs typeface="Consolas"/>
                <a:sym typeface="Consolas"/>
              </a:rPr>
              <a:t>AUTH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3612566" y="5449824"/>
            <a:ext cx="216781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Supabase Auth · JWT HS256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6255868" y="4992624"/>
            <a:ext cx="2579294" cy="1078992"/>
          </a:xfrm>
          <a:prstGeom prst="roundRect">
            <a:avLst>
              <a:gd fmla="val 678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334155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0"/>
          <p:cNvSpPr/>
          <p:nvPr/>
        </p:nvSpPr>
        <p:spPr>
          <a:xfrm>
            <a:off x="6255868" y="4992624"/>
            <a:ext cx="91440" cy="107899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0"/>
          <p:cNvSpPr/>
          <p:nvPr/>
        </p:nvSpPr>
        <p:spPr>
          <a:xfrm>
            <a:off x="6511900" y="5157216"/>
            <a:ext cx="221353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0E7490"/>
                </a:solidFill>
                <a:latin typeface="Consolas"/>
                <a:ea typeface="Consolas"/>
                <a:cs typeface="Consolas"/>
                <a:sym typeface="Consolas"/>
              </a:rPr>
              <a:t>FRONTEND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6511900" y="5449824"/>
            <a:ext cx="216781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Next.js 14 · TypeScript · shadcn/ui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9155201" y="4992624"/>
            <a:ext cx="2579294" cy="1078992"/>
          </a:xfrm>
          <a:prstGeom prst="roundRect">
            <a:avLst>
              <a:gd fmla="val 678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334155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0"/>
          <p:cNvSpPr/>
          <p:nvPr/>
        </p:nvSpPr>
        <p:spPr>
          <a:xfrm>
            <a:off x="9155201" y="4992624"/>
            <a:ext cx="91440" cy="107899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0"/>
          <p:cNvSpPr/>
          <p:nvPr/>
        </p:nvSpPr>
        <p:spPr>
          <a:xfrm>
            <a:off x="9411233" y="5157216"/>
            <a:ext cx="221353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0E7490"/>
                </a:solidFill>
                <a:latin typeface="Consolas"/>
                <a:ea typeface="Consolas"/>
                <a:cs typeface="Consolas"/>
                <a:sym typeface="Consolas"/>
              </a:rPr>
              <a:t>SECRETS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9411233" y="5449824"/>
            <a:ext cx="216781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AWS Secrets Manager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9448495" y="644652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MindAgent  ·  Tech Stack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proc/logo_left_pill.png" id="283" name="Google Shape;28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92608"/>
            <a:ext cx="957473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ets/proc/logo_right_pill.png" id="284" name="Google Shape;28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42183" y="292608"/>
            <a:ext cx="1292312" cy="4206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5" name="Google Shape;285;p11"/>
          <p:cNvCxnSpPr/>
          <p:nvPr/>
        </p:nvCxnSpPr>
        <p:spPr>
          <a:xfrm>
            <a:off x="457200" y="868680"/>
            <a:ext cx="11277295" cy="0"/>
          </a:xfrm>
          <a:prstGeom prst="straightConnector1">
            <a:avLst/>
          </a:prstGeom>
          <a:noFill/>
          <a:ln cap="flat" cmpd="sng" w="12700">
            <a:solidFill>
              <a:srgbClr val="22304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6" name="Google Shape;286;p11"/>
          <p:cNvSpPr/>
          <p:nvPr/>
        </p:nvSpPr>
        <p:spPr>
          <a:xfrm>
            <a:off x="457200" y="1078992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2DD4BF"/>
                </a:solidFill>
                <a:latin typeface="Consolas"/>
                <a:ea typeface="Consolas"/>
                <a:cs typeface="Consolas"/>
                <a:sym typeface="Consolas"/>
              </a:rPr>
              <a:t>CORE LOGIC · RATE_LIMITER.PY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457200" y="1353312"/>
            <a:ext cx="1127729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Redis Sliding-Window Token Bucket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457200" y="2240280"/>
            <a:ext cx="7863840" cy="4160520"/>
          </a:xfrm>
          <a:prstGeom prst="roundRect">
            <a:avLst>
              <a:gd fmla="val 1758" name="adj"/>
            </a:avLst>
          </a:prstGeom>
          <a:solidFill>
            <a:srgbClr val="0A1426"/>
          </a:solidFill>
          <a:ln cap="flat" cmpd="sng" w="12700">
            <a:solidFill>
              <a:srgbClr val="22304D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1"/>
          <p:cNvSpPr/>
          <p:nvPr/>
        </p:nvSpPr>
        <p:spPr>
          <a:xfrm>
            <a:off x="457200" y="2240280"/>
            <a:ext cx="7863840" cy="384048"/>
          </a:xfrm>
          <a:prstGeom prst="rect">
            <a:avLst/>
          </a:prstGeom>
          <a:solidFill>
            <a:srgbClr val="0E1A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1"/>
          <p:cNvSpPr/>
          <p:nvPr/>
        </p:nvSpPr>
        <p:spPr>
          <a:xfrm>
            <a:off x="658368" y="2377440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1"/>
          <p:cNvSpPr/>
          <p:nvPr/>
        </p:nvSpPr>
        <p:spPr>
          <a:xfrm>
            <a:off x="896112" y="2377440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1"/>
          <p:cNvSpPr/>
          <p:nvPr/>
        </p:nvSpPr>
        <p:spPr>
          <a:xfrm>
            <a:off x="1133856" y="2377440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1"/>
          <p:cNvSpPr/>
          <p:nvPr/>
        </p:nvSpPr>
        <p:spPr>
          <a:xfrm>
            <a:off x="1554480" y="2240280"/>
            <a:ext cx="5486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shared_lambda/rate_limiter.py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658368" y="2724912"/>
            <a:ext cx="749808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B7A99"/>
              </a:buClr>
              <a:buSzPts val="1020"/>
              <a:buFont typeface="Consolas"/>
              <a:buNone/>
            </a:pPr>
            <a:r>
              <a:rPr b="0" i="0" lang="en-US" sz="1020" u="none" cap="none" strike="noStrike">
                <a:solidFill>
                  <a:srgbClr val="5B7A99"/>
                </a:solidFill>
                <a:latin typeface="Consolas"/>
                <a:ea typeface="Consolas"/>
                <a:cs typeface="Consolas"/>
                <a:sym typeface="Consolas"/>
              </a:rPr>
              <a:t>BUCKET_CAPACITY = 60      # max tokens per 60-second window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2F0"/>
              </a:buClr>
              <a:buSzPts val="1020"/>
              <a:buFont typeface="Consolas"/>
              <a:buNone/>
            </a:pPr>
            <a:r>
              <a:rPr b="0" i="0" lang="en-US" sz="1020" u="none" cap="none" strike="noStrike">
                <a:solidFill>
                  <a:srgbClr val="D6E2F0"/>
                </a:solidFill>
                <a:latin typeface="Consolas"/>
                <a:ea typeface="Consolas"/>
                <a:cs typeface="Consolas"/>
                <a:sym typeface="Consolas"/>
              </a:rPr>
              <a:t>WINDOW_SECONDS  = 60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2F0"/>
              </a:buClr>
              <a:buSzPts val="1020"/>
              <a:buFont typeface="Consolas"/>
              <a:buNone/>
            </a:pPr>
            <a:r>
              <a:rPr b="0" i="0" lang="en-US" sz="1020" u="none" cap="none" strike="noStrike">
                <a:solidFill>
                  <a:srgbClr val="D6E2F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2F0"/>
              </a:buClr>
              <a:buSzPts val="1020"/>
              <a:buFont typeface="Consolas"/>
              <a:buNone/>
            </a:pPr>
            <a:r>
              <a:rPr b="0" i="0" lang="en-US" sz="1020" u="none" cap="none" strike="noStrike">
                <a:solidFill>
                  <a:srgbClr val="D6E2F0"/>
                </a:solidFill>
                <a:latin typeface="Consolas"/>
                <a:ea typeface="Consolas"/>
                <a:cs typeface="Consolas"/>
                <a:sym typeface="Consolas"/>
              </a:rPr>
              <a:t>def acquire_tokens(r, bucket_key, cost, timeout_s):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2F0"/>
              </a:buClr>
              <a:buSzPts val="1020"/>
              <a:buFont typeface="Consolas"/>
              <a:buNone/>
            </a:pPr>
            <a:r>
              <a:rPr b="0" i="0" lang="en-US" sz="1020" u="none" cap="none" strike="noStrike">
                <a:solidFill>
                  <a:srgbClr val="D6E2F0"/>
                </a:solidFill>
                <a:latin typeface="Consolas"/>
                <a:ea typeface="Consolas"/>
                <a:cs typeface="Consolas"/>
                <a:sym typeface="Consolas"/>
              </a:rPr>
              <a:t>    start, wait_time = time.time(), 1.0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2F0"/>
              </a:buClr>
              <a:buSzPts val="1020"/>
              <a:buFont typeface="Consolas"/>
              <a:buNone/>
            </a:pPr>
            <a:r>
              <a:rPr b="0" i="0" lang="en-US" sz="1020" u="none" cap="none" strike="noStrike">
                <a:solidFill>
                  <a:srgbClr val="D6E2F0"/>
                </a:solidFill>
                <a:latin typeface="Consolas"/>
                <a:ea typeface="Consolas"/>
                <a:cs typeface="Consolas"/>
                <a:sym typeface="Consolas"/>
              </a:rPr>
              <a:t>    while time.time() - start &lt; timeout_s: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2F0"/>
              </a:buClr>
              <a:buSzPts val="1020"/>
              <a:buFont typeface="Consolas"/>
              <a:buNone/>
            </a:pPr>
            <a:r>
              <a:rPr b="0" i="0" lang="en-US" sz="1020" u="none" cap="none" strike="noStrike">
                <a:solidFill>
                  <a:srgbClr val="D6E2F0"/>
                </a:solidFill>
                <a:latin typeface="Consolas"/>
                <a:ea typeface="Consolas"/>
                <a:cs typeface="Consolas"/>
                <a:sym typeface="Consolas"/>
              </a:rPr>
              <a:t>        now_ms      = int(time.time() * 1000)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2F0"/>
              </a:buClr>
              <a:buSzPts val="1020"/>
              <a:buFont typeface="Consolas"/>
              <a:buNone/>
            </a:pPr>
            <a:r>
              <a:rPr b="0" i="0" lang="en-US" sz="1020" u="none" cap="none" strike="noStrike">
                <a:solidFill>
                  <a:srgbClr val="D6E2F0"/>
                </a:solidFill>
                <a:latin typeface="Consolas"/>
                <a:ea typeface="Consolas"/>
                <a:cs typeface="Consolas"/>
                <a:sym typeface="Consolas"/>
              </a:rPr>
              <a:t>        window_start = now_ms - (WINDOW_SECONDS * 1000)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B7A99"/>
              </a:buClr>
              <a:buSzPts val="1020"/>
              <a:buFont typeface="Consolas"/>
              <a:buNone/>
            </a:pPr>
            <a:r>
              <a:rPr b="0" i="0" lang="en-US" sz="1020" u="none" cap="none" strike="noStrike">
                <a:solidFill>
                  <a:srgbClr val="5B7A99"/>
                </a:solidFill>
                <a:latin typeface="Consolas"/>
                <a:ea typeface="Consolas"/>
                <a:cs typeface="Consolas"/>
                <a:sym typeface="Consolas"/>
              </a:rPr>
              <a:t>        r.zremrangebyscore(bucket_key, 0, window_start)   # prune expired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2F0"/>
              </a:buClr>
              <a:buSzPts val="1020"/>
              <a:buFont typeface="Consolas"/>
              <a:buNone/>
            </a:pPr>
            <a:r>
              <a:rPr b="0" i="0" lang="en-US" sz="1020" u="none" cap="none" strike="noStrike">
                <a:solidFill>
                  <a:srgbClr val="D6E2F0"/>
                </a:solidFill>
                <a:latin typeface="Consolas"/>
                <a:ea typeface="Consolas"/>
                <a:cs typeface="Consolas"/>
                <a:sym typeface="Consolas"/>
              </a:rPr>
              <a:t>        used      = r.zcard(bucket_key)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2F0"/>
              </a:buClr>
              <a:buSzPts val="1020"/>
              <a:buFont typeface="Consolas"/>
              <a:buNone/>
            </a:pPr>
            <a:r>
              <a:rPr b="0" i="0" lang="en-US" sz="1020" u="none" cap="none" strike="noStrike">
                <a:solidFill>
                  <a:srgbClr val="D6E2F0"/>
                </a:solidFill>
                <a:latin typeface="Consolas"/>
                <a:ea typeface="Consolas"/>
                <a:cs typeface="Consolas"/>
                <a:sym typeface="Consolas"/>
              </a:rPr>
              <a:t>        available = max(0, BUCKET_CAPACITY - used)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2F0"/>
              </a:buClr>
              <a:buSzPts val="1020"/>
              <a:buFont typeface="Consolas"/>
              <a:buNone/>
            </a:pPr>
            <a:r>
              <a:rPr b="0" i="0" lang="en-US" sz="1020" u="none" cap="none" strike="noStrike">
                <a:solidFill>
                  <a:srgbClr val="D6E2F0"/>
                </a:solidFill>
                <a:latin typeface="Consolas"/>
                <a:ea typeface="Consolas"/>
                <a:cs typeface="Consolas"/>
                <a:sym typeface="Consolas"/>
              </a:rPr>
              <a:t>        if available &gt;= cost: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2F0"/>
              </a:buClr>
              <a:buSzPts val="1020"/>
              <a:buFont typeface="Consolas"/>
              <a:buNone/>
            </a:pPr>
            <a:r>
              <a:rPr b="0" i="0" lang="en-US" sz="1020" u="none" cap="none" strike="noStrike">
                <a:solidFill>
                  <a:srgbClr val="D6E2F0"/>
                </a:solidFill>
                <a:latin typeface="Consolas"/>
                <a:ea typeface="Consolas"/>
                <a:cs typeface="Consolas"/>
                <a:sym typeface="Consolas"/>
              </a:rPr>
              <a:t>            for _ in range(cost):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2F0"/>
              </a:buClr>
              <a:buSzPts val="1020"/>
              <a:buFont typeface="Consolas"/>
              <a:buNone/>
            </a:pPr>
            <a:r>
              <a:rPr b="0" i="0" lang="en-US" sz="1020" u="none" cap="none" strike="noStrike">
                <a:solidFill>
                  <a:srgbClr val="D6E2F0"/>
                </a:solidFill>
                <a:latin typeface="Consolas"/>
                <a:ea typeface="Consolas"/>
                <a:cs typeface="Consolas"/>
                <a:sym typeface="Consolas"/>
              </a:rPr>
              <a:t>                r.zadd(bucket_key, {f'token:{uuid4()}': now_ms})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2F0"/>
              </a:buClr>
              <a:buSzPts val="1020"/>
              <a:buFont typeface="Consolas"/>
              <a:buNone/>
            </a:pPr>
            <a:r>
              <a:rPr b="0" i="0" lang="en-US" sz="1020" u="none" cap="none" strike="noStrike">
                <a:solidFill>
                  <a:srgbClr val="D6E2F0"/>
                </a:solidFill>
                <a:latin typeface="Consolas"/>
                <a:ea typeface="Consolas"/>
                <a:cs typeface="Consolas"/>
                <a:sym typeface="Consolas"/>
              </a:rPr>
              <a:t>            return True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6E2F0"/>
              </a:buClr>
              <a:buSzPts val="1020"/>
              <a:buFont typeface="Consolas"/>
              <a:buNone/>
            </a:pPr>
            <a:r>
              <a:rPr b="0" i="0" lang="en-US" sz="1020" u="none" cap="none" strike="noStrike">
                <a:solidFill>
                  <a:srgbClr val="D6E2F0"/>
                </a:solidFill>
                <a:latin typeface="Consolas"/>
                <a:ea typeface="Consolas"/>
                <a:cs typeface="Consolas"/>
                <a:sym typeface="Consolas"/>
              </a:rPr>
              <a:t>        time.sleep(wait_time)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B7A99"/>
              </a:buClr>
              <a:buSzPts val="1020"/>
              <a:buFont typeface="Consolas"/>
              <a:buNone/>
            </a:pPr>
            <a:r>
              <a:rPr b="0" i="0" lang="en-US" sz="1020" u="none" cap="none" strike="noStrike">
                <a:solidFill>
                  <a:srgbClr val="5B7A99"/>
                </a:solidFill>
                <a:latin typeface="Consolas"/>
                <a:ea typeface="Consolas"/>
                <a:cs typeface="Consolas"/>
                <a:sym typeface="Consolas"/>
              </a:rPr>
              <a:t>        wait_time = min(wait_time * 1.5, 10.0)            # backoff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B7A99"/>
              </a:buClr>
              <a:buSzPts val="1020"/>
              <a:buFont typeface="Consolas"/>
              <a:buNone/>
            </a:pPr>
            <a:r>
              <a:rPr b="0" i="0" lang="en-US" sz="1020" u="none" cap="none" strike="noStrike">
                <a:solidFill>
                  <a:srgbClr val="5B7A99"/>
                </a:solidFill>
                <a:latin typeface="Consolas"/>
                <a:ea typeface="Consolas"/>
                <a:cs typeface="Consolas"/>
                <a:sym typeface="Consolas"/>
              </a:rPr>
              <a:t>    return False    # timeout → caller raises RATE_LIMIT_WAIT → SQS requeue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icons/check_teal.png" id="295" name="Google Shape;295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86800" y="253288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1"/>
          <p:cNvSpPr/>
          <p:nvPr/>
        </p:nvSpPr>
        <p:spPr>
          <a:xfrm>
            <a:off x="9098280" y="2478024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Sorted-set window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9098280" y="2843784"/>
            <a:ext cx="2971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Each token = member scored by timestamp; expired members pruned per call.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icons/check_teal.png" id="298" name="Google Shape;298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86800" y="385876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11"/>
          <p:cNvSpPr/>
          <p:nvPr/>
        </p:nvSpPr>
        <p:spPr>
          <a:xfrm>
            <a:off x="9098280" y="3803904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Two buckets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9098280" y="4169664"/>
            <a:ext cx="2971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router (cost 1) and rag (HyDE 1 + generate 2) tracked independently.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icons/check_teal.png" id="301" name="Google Shape;301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86800" y="518464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11"/>
          <p:cNvSpPr/>
          <p:nvPr/>
        </p:nvSpPr>
        <p:spPr>
          <a:xfrm>
            <a:off x="9098280" y="5129784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Graceful backoff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9098280" y="5495544"/>
            <a:ext cx="2971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1s → 1.5s → 2.25s … capped at 10s before SQS re-queue.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9448495" y="644652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MindAgent  ·  Rate Limiter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ChandigarhUni-head-left.png" id="310" name="Google Shape;31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10896"/>
            <a:ext cx="1005302" cy="384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ets/cu-online-head-right.png" id="311" name="Google Shape;31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06209" y="329184"/>
            <a:ext cx="1328286" cy="3657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2" name="Google Shape;312;p12"/>
          <p:cNvCxnSpPr/>
          <p:nvPr/>
        </p:nvCxnSpPr>
        <p:spPr>
          <a:xfrm>
            <a:off x="457200" y="868680"/>
            <a:ext cx="11277295" cy="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3" name="Google Shape;313;p12"/>
          <p:cNvSpPr/>
          <p:nvPr/>
        </p:nvSpPr>
        <p:spPr>
          <a:xfrm>
            <a:off x="457200" y="1078992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2DD4BF"/>
                </a:solidFill>
                <a:latin typeface="Consolas"/>
                <a:ea typeface="Consolas"/>
                <a:cs typeface="Consolas"/>
                <a:sym typeface="Consolas"/>
              </a:rPr>
              <a:t>IMPLEMENTATION · 4.3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457200" y="1353312"/>
            <a:ext cx="1127729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Query Lifecycle — Sequence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diagram_5.png" id="315" name="Google Shape;315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2651" y="2130557"/>
            <a:ext cx="7407175" cy="4444318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12"/>
          <p:cNvSpPr/>
          <p:nvPr/>
        </p:nvSpPr>
        <p:spPr>
          <a:xfrm>
            <a:off x="9144000" y="2331720"/>
            <a:ext cx="384048" cy="384048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2"/>
          <p:cNvSpPr/>
          <p:nvPr/>
        </p:nvSpPr>
        <p:spPr>
          <a:xfrm>
            <a:off x="9144000" y="233172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2"/>
          <p:cNvSpPr/>
          <p:nvPr/>
        </p:nvSpPr>
        <p:spPr>
          <a:xfrm>
            <a:off x="9646920" y="228600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Cache check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user:sha256(query) in Redis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2"/>
          <p:cNvSpPr/>
          <p:nvPr/>
        </p:nvSpPr>
        <p:spPr>
          <a:xfrm>
            <a:off x="9144000" y="3099816"/>
            <a:ext cx="384048" cy="384048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2"/>
          <p:cNvSpPr/>
          <p:nvPr/>
        </p:nvSpPr>
        <p:spPr>
          <a:xfrm>
            <a:off x="9144000" y="309981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2"/>
          <p:cNvSpPr/>
          <p:nvPr/>
        </p:nvSpPr>
        <p:spPr>
          <a:xfrm>
            <a:off x="9646920" y="3054096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Async starts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SQS triggers Query Lambda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2"/>
          <p:cNvSpPr/>
          <p:nvPr/>
        </p:nvSpPr>
        <p:spPr>
          <a:xfrm>
            <a:off x="9144000" y="3867912"/>
            <a:ext cx="384048" cy="384048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2"/>
          <p:cNvSpPr/>
          <p:nvPr/>
        </p:nvSpPr>
        <p:spPr>
          <a:xfrm>
            <a:off x="9144000" y="386791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2"/>
          <p:cNvSpPr/>
          <p:nvPr/>
        </p:nvSpPr>
        <p:spPr>
          <a:xfrm>
            <a:off x="9646920" y="3822192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Embed + search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Voyage AI → HNSW+BM25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2"/>
          <p:cNvSpPr/>
          <p:nvPr/>
        </p:nvSpPr>
        <p:spPr>
          <a:xfrm>
            <a:off x="9144000" y="4636008"/>
            <a:ext cx="384048" cy="384048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2"/>
          <p:cNvSpPr/>
          <p:nvPr/>
        </p:nvSpPr>
        <p:spPr>
          <a:xfrm>
            <a:off x="9144000" y="463600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2"/>
          <p:cNvSpPr/>
          <p:nvPr/>
        </p:nvSpPr>
        <p:spPr>
          <a:xfrm>
            <a:off x="9646920" y="4590288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Persist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SETEX job:{id} 3600 {answer}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2"/>
          <p:cNvSpPr/>
          <p:nvPr/>
        </p:nvSpPr>
        <p:spPr>
          <a:xfrm>
            <a:off x="9144000" y="5404104"/>
            <a:ext cx="384048" cy="384048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2"/>
          <p:cNvSpPr/>
          <p:nvPr/>
        </p:nvSpPr>
        <p:spPr>
          <a:xfrm>
            <a:off x="9144000" y="540410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9646920" y="5358384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Client polls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GET /result/{jobId} → done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2"/>
          <p:cNvSpPr/>
          <p:nvPr/>
        </p:nvSpPr>
        <p:spPr>
          <a:xfrm>
            <a:off x="9448495" y="644652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MindAgent  ·  Sequence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proc/logo_left_pill.png" id="337" name="Google Shape;33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92608"/>
            <a:ext cx="957473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ets/proc/logo_right_pill.png" id="338" name="Google Shape;33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42183" y="292608"/>
            <a:ext cx="1292312" cy="4206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9" name="Google Shape;339;p13"/>
          <p:cNvCxnSpPr/>
          <p:nvPr/>
        </p:nvCxnSpPr>
        <p:spPr>
          <a:xfrm>
            <a:off x="457200" y="868680"/>
            <a:ext cx="11277295" cy="0"/>
          </a:xfrm>
          <a:prstGeom prst="straightConnector1">
            <a:avLst/>
          </a:prstGeom>
          <a:noFill/>
          <a:ln cap="flat" cmpd="sng" w="12700">
            <a:solidFill>
              <a:srgbClr val="22304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0" name="Google Shape;340;p13"/>
          <p:cNvSpPr/>
          <p:nvPr/>
        </p:nvSpPr>
        <p:spPr>
          <a:xfrm>
            <a:off x="457200" y="1078992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2DD4BF"/>
                </a:solidFill>
                <a:latin typeface="Consolas"/>
                <a:ea typeface="Consolas"/>
                <a:cs typeface="Consolas"/>
                <a:sym typeface="Consolas"/>
              </a:rPr>
              <a:t>APPLICATION · 6.3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3"/>
          <p:cNvSpPr/>
          <p:nvPr/>
        </p:nvSpPr>
        <p:spPr>
          <a:xfrm>
            <a:off x="457200" y="1353312"/>
            <a:ext cx="1127729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Application — Auth &amp; Upload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proc/login-screen_r.png" id="342" name="Google Shape;342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71600" y="2286000"/>
            <a:ext cx="3296750" cy="3611880"/>
          </a:xfrm>
          <a:prstGeom prst="rect">
            <a:avLst/>
          </a:prstGeom>
          <a:noFill/>
          <a:ln>
            <a:noFill/>
          </a:ln>
          <a:effectLst>
            <a:outerShdw blurRad="114300" rotWithShape="0" algn="bl" dir="8100000" dist="38100">
              <a:srgbClr val="000000">
                <a:alpha val="21960"/>
              </a:srgbClr>
            </a:outerShdw>
          </a:effectLst>
        </p:spPr>
      </p:pic>
      <p:sp>
        <p:nvSpPr>
          <p:cNvPr id="343" name="Google Shape;343;p13"/>
          <p:cNvSpPr/>
          <p:nvPr/>
        </p:nvSpPr>
        <p:spPr>
          <a:xfrm>
            <a:off x="731520" y="603504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Figure 6.1 — Sign-in via Supabase Auth (JWT HS256)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proc/document-upload_r.png" id="344" name="Google Shape;344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94960" y="2606040"/>
            <a:ext cx="6126480" cy="3541871"/>
          </a:xfrm>
          <a:prstGeom prst="rect">
            <a:avLst/>
          </a:prstGeom>
          <a:noFill/>
          <a:ln>
            <a:noFill/>
          </a:ln>
          <a:effectLst>
            <a:outerShdw blurRad="114300" rotWithShape="0" algn="bl" dir="8100000" dist="38100">
              <a:srgbClr val="000000">
                <a:alpha val="21960"/>
              </a:srgbClr>
            </a:outerShdw>
          </a:effectLst>
        </p:spPr>
      </p:pic>
      <p:sp>
        <p:nvSpPr>
          <p:cNvPr id="345" name="Google Shape;345;p13"/>
          <p:cNvSpPr/>
          <p:nvPr/>
        </p:nvSpPr>
        <p:spPr>
          <a:xfrm>
            <a:off x="5394960" y="6294215"/>
            <a:ext cx="6126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Figure 6.2 — PDF upload via pre-signed S3 URL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3"/>
          <p:cNvSpPr/>
          <p:nvPr/>
        </p:nvSpPr>
        <p:spPr>
          <a:xfrm>
            <a:off x="9448495" y="644652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MindAgent  ·  UI · Auth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proc/logo_left_pill.png" id="352" name="Google Shape;35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92608"/>
            <a:ext cx="957473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ets/proc/logo_right_pill.png" id="353" name="Google Shape;35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42183" y="292608"/>
            <a:ext cx="1292312" cy="4206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4" name="Google Shape;354;p14"/>
          <p:cNvCxnSpPr/>
          <p:nvPr/>
        </p:nvCxnSpPr>
        <p:spPr>
          <a:xfrm>
            <a:off x="457200" y="868680"/>
            <a:ext cx="11277295" cy="0"/>
          </a:xfrm>
          <a:prstGeom prst="straightConnector1">
            <a:avLst/>
          </a:prstGeom>
          <a:noFill/>
          <a:ln cap="flat" cmpd="sng" w="12700">
            <a:solidFill>
              <a:srgbClr val="22304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5" name="Google Shape;355;p14"/>
          <p:cNvSpPr/>
          <p:nvPr/>
        </p:nvSpPr>
        <p:spPr>
          <a:xfrm>
            <a:off x="457200" y="1078992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2DD4BF"/>
                </a:solidFill>
                <a:latin typeface="Consolas"/>
                <a:ea typeface="Consolas"/>
                <a:cs typeface="Consolas"/>
                <a:sym typeface="Consolas"/>
              </a:rPr>
              <a:t>APPLICATION · 6.3.3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4"/>
          <p:cNvSpPr/>
          <p:nvPr/>
        </p:nvSpPr>
        <p:spPr>
          <a:xfrm>
            <a:off x="457200" y="1353312"/>
            <a:ext cx="1127729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Conversational Q&amp;A Interface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proc/qa-interface_r.png" id="357" name="Google Shape;35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" y="2468880"/>
            <a:ext cx="8138160" cy="4041457"/>
          </a:xfrm>
          <a:prstGeom prst="rect">
            <a:avLst/>
          </a:prstGeom>
          <a:noFill/>
          <a:ln>
            <a:noFill/>
          </a:ln>
          <a:effectLst>
            <a:outerShdw blurRad="114300" rotWithShape="0" algn="bl" dir="8100000" dist="38100">
              <a:srgbClr val="000000">
                <a:alpha val="21960"/>
              </a:srgbClr>
            </a:outerShdw>
          </a:effectLst>
        </p:spPr>
      </p:pic>
      <p:pic>
        <p:nvPicPr>
          <p:cNvPr descr="assets/icons/comments_teal.png" id="358" name="Google Shape;35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69680" y="271576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14"/>
          <p:cNvSpPr/>
          <p:nvPr/>
        </p:nvSpPr>
        <p:spPr>
          <a:xfrm>
            <a:off x="9345168" y="265176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Georgia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Grounded answers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4"/>
          <p:cNvSpPr/>
          <p:nvPr/>
        </p:nvSpPr>
        <p:spPr>
          <a:xfrm>
            <a:off x="8869680" y="3154680"/>
            <a:ext cx="30175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Every response cites source chunks with page numbers.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icons/file_teal.png" id="361" name="Google Shape;36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69680" y="3922776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14"/>
          <p:cNvSpPr/>
          <p:nvPr/>
        </p:nvSpPr>
        <p:spPr>
          <a:xfrm>
            <a:off x="9345168" y="3858768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Georgia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Live PDF pane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4"/>
          <p:cNvSpPr/>
          <p:nvPr/>
        </p:nvSpPr>
        <p:spPr>
          <a:xfrm>
            <a:off x="8869680" y="4361688"/>
            <a:ext cx="30175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Referenced document rendered beside the chat.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icons/gear_teal.png" id="364" name="Google Shape;364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869680" y="5129784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14"/>
          <p:cNvSpPr/>
          <p:nvPr/>
        </p:nvSpPr>
        <p:spPr>
          <a:xfrm>
            <a:off x="9345168" y="5065776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Georgia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Style control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4"/>
          <p:cNvSpPr/>
          <p:nvPr/>
        </p:nvSpPr>
        <p:spPr>
          <a:xfrm>
            <a:off x="8869680" y="5568696"/>
            <a:ext cx="30175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Concise · Explanatory · Casual + voice.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4"/>
          <p:cNvSpPr/>
          <p:nvPr/>
        </p:nvSpPr>
        <p:spPr>
          <a:xfrm>
            <a:off x="9448495" y="644652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MindAgent  ·  UI · Q&amp;A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ChandigarhUni-head-left.png" id="373" name="Google Shape;37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10896"/>
            <a:ext cx="1005302" cy="384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ets/cu-online-head-right.png" id="374" name="Google Shape;37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06209" y="329184"/>
            <a:ext cx="1328286" cy="3657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5" name="Google Shape;375;p15"/>
          <p:cNvCxnSpPr/>
          <p:nvPr/>
        </p:nvCxnSpPr>
        <p:spPr>
          <a:xfrm>
            <a:off x="457200" y="868680"/>
            <a:ext cx="11277295" cy="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6" name="Google Shape;376;p15"/>
          <p:cNvSpPr/>
          <p:nvPr/>
        </p:nvSpPr>
        <p:spPr>
          <a:xfrm>
            <a:off x="457200" y="1078992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2DD4BF"/>
                </a:solidFill>
                <a:latin typeface="Consolas"/>
                <a:ea typeface="Consolas"/>
                <a:cs typeface="Consolas"/>
                <a:sym typeface="Consolas"/>
              </a:rPr>
              <a:t>APPLICATION · 6.3.6–6.3.7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5"/>
          <p:cNvSpPr/>
          <p:nvPr/>
        </p:nvSpPr>
        <p:spPr>
          <a:xfrm>
            <a:off x="457200" y="1353312"/>
            <a:ext cx="1127729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Conversations &amp; Document Management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5"/>
          <p:cNvSpPr/>
          <p:nvPr/>
        </p:nvSpPr>
        <p:spPr>
          <a:xfrm>
            <a:off x="795528" y="2258568"/>
            <a:ext cx="1633265" cy="3895344"/>
          </a:xfrm>
          <a:prstGeom prst="roundRect">
            <a:avLst>
              <a:gd fmla="val 5599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334155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proc/convo-history_r.png" id="379" name="Google Shape;37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8680" y="2331720"/>
            <a:ext cx="1486961" cy="374904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15"/>
          <p:cNvSpPr/>
          <p:nvPr/>
        </p:nvSpPr>
        <p:spPr>
          <a:xfrm>
            <a:off x="457200" y="617220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Figure 6.6 — Conversation sidebar; last 3 Q&amp;A pairs feed follow-up context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proc/doc-mamangement_r.png" id="381" name="Google Shape;38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06240" y="2468880"/>
            <a:ext cx="7315200" cy="2351314"/>
          </a:xfrm>
          <a:prstGeom prst="rect">
            <a:avLst/>
          </a:prstGeom>
          <a:noFill/>
          <a:ln>
            <a:noFill/>
          </a:ln>
          <a:effectLst>
            <a:outerShdw blurRad="101600" rotWithShape="0" algn="bl" dir="8100000" dist="38100">
              <a:srgbClr val="334155">
                <a:alpha val="16078"/>
              </a:srgbClr>
            </a:outerShdw>
          </a:effectLst>
        </p:spPr>
      </p:pic>
      <p:sp>
        <p:nvSpPr>
          <p:cNvPr id="382" name="Google Shape;382;p15"/>
          <p:cNvSpPr/>
          <p:nvPr/>
        </p:nvSpPr>
        <p:spPr>
          <a:xfrm>
            <a:off x="4206240" y="47548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Figure 6.7 — Deletion cascades through S3 → Supabase → query cache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5"/>
          <p:cNvSpPr/>
          <p:nvPr/>
        </p:nvSpPr>
        <p:spPr>
          <a:xfrm>
            <a:off x="4206240" y="5257800"/>
            <a:ext cx="1847088" cy="310896"/>
          </a:xfrm>
          <a:prstGeom prst="roundRect">
            <a:avLst>
              <a:gd fmla="val 50000" name="adj"/>
            </a:avLst>
          </a:prstGeom>
          <a:solidFill>
            <a:srgbClr val="0E74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5"/>
          <p:cNvSpPr/>
          <p:nvPr/>
        </p:nvSpPr>
        <p:spPr>
          <a:xfrm>
            <a:off x="4206240" y="5257800"/>
            <a:ext cx="184708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Multi-document scope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5"/>
          <p:cNvSpPr/>
          <p:nvPr/>
        </p:nvSpPr>
        <p:spPr>
          <a:xfrm>
            <a:off x="6281928" y="5257800"/>
            <a:ext cx="1762963" cy="310896"/>
          </a:xfrm>
          <a:prstGeom prst="roundRect">
            <a:avLst>
              <a:gd fmla="val 50000" name="adj"/>
            </a:avLst>
          </a:prstGeom>
          <a:solidFill>
            <a:srgbClr val="0E74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5"/>
          <p:cNvSpPr/>
          <p:nvPr/>
        </p:nvSpPr>
        <p:spPr>
          <a:xfrm>
            <a:off x="6281928" y="5257800"/>
            <a:ext cx="1762963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Named conversations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5"/>
          <p:cNvSpPr/>
          <p:nvPr/>
        </p:nvSpPr>
        <p:spPr>
          <a:xfrm>
            <a:off x="8273491" y="5257800"/>
            <a:ext cx="1342339" cy="310896"/>
          </a:xfrm>
          <a:prstGeom prst="roundRect">
            <a:avLst>
              <a:gd fmla="val 50000" name="adj"/>
            </a:avLst>
          </a:prstGeom>
          <a:solidFill>
            <a:srgbClr val="0E74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5"/>
          <p:cNvSpPr/>
          <p:nvPr/>
        </p:nvSpPr>
        <p:spPr>
          <a:xfrm>
            <a:off x="8273491" y="5257800"/>
            <a:ext cx="1342339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Cascade delete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5"/>
          <p:cNvSpPr/>
          <p:nvPr/>
        </p:nvSpPr>
        <p:spPr>
          <a:xfrm>
            <a:off x="9844430" y="5257800"/>
            <a:ext cx="1342339" cy="310896"/>
          </a:xfrm>
          <a:prstGeom prst="roundRect">
            <a:avLst>
              <a:gd fmla="val 50000" name="adj"/>
            </a:avLst>
          </a:prstGeom>
          <a:solidFill>
            <a:srgbClr val="0E74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5"/>
          <p:cNvSpPr/>
          <p:nvPr/>
        </p:nvSpPr>
        <p:spPr>
          <a:xfrm>
            <a:off x="9844430" y="5257800"/>
            <a:ext cx="1342339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Cache eviction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5"/>
          <p:cNvSpPr/>
          <p:nvPr/>
        </p:nvSpPr>
        <p:spPr>
          <a:xfrm>
            <a:off x="9448495" y="644652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MindAgent  ·  UI · History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proc/logo_left_pill.png" id="397" name="Google Shape;39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92608"/>
            <a:ext cx="957473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ets/proc/logo_right_pill.png" id="398" name="Google Shape;39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42183" y="292608"/>
            <a:ext cx="1292312" cy="4206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9" name="Google Shape;399;p16"/>
          <p:cNvCxnSpPr/>
          <p:nvPr/>
        </p:nvCxnSpPr>
        <p:spPr>
          <a:xfrm>
            <a:off x="457200" y="868680"/>
            <a:ext cx="11277295" cy="0"/>
          </a:xfrm>
          <a:prstGeom prst="straightConnector1">
            <a:avLst/>
          </a:prstGeom>
          <a:noFill/>
          <a:ln cap="flat" cmpd="sng" w="12700">
            <a:solidFill>
              <a:srgbClr val="22304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0" name="Google Shape;400;p16"/>
          <p:cNvSpPr/>
          <p:nvPr/>
        </p:nvSpPr>
        <p:spPr>
          <a:xfrm>
            <a:off x="457200" y="1078992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2DD4BF"/>
                </a:solidFill>
                <a:latin typeface="Consolas"/>
                <a:ea typeface="Consolas"/>
                <a:cs typeface="Consolas"/>
                <a:sym typeface="Consolas"/>
              </a:rPr>
              <a:t>TESTING · 5.5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6"/>
          <p:cNvSpPr/>
          <p:nvPr/>
        </p:nvSpPr>
        <p:spPr>
          <a:xfrm>
            <a:off x="457200" y="1353312"/>
            <a:ext cx="1127729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Testing &amp; Validation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proc/test-results_r.png" id="402" name="Google Shape;40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2331720"/>
            <a:ext cx="2993486" cy="3840480"/>
          </a:xfrm>
          <a:prstGeom prst="rect">
            <a:avLst/>
          </a:prstGeom>
          <a:noFill/>
          <a:ln>
            <a:noFill/>
          </a:ln>
          <a:effectLst>
            <a:outerShdw blurRad="114300" rotWithShape="0" algn="bl" dir="8100000" dist="38100">
              <a:srgbClr val="000000">
                <a:alpha val="21960"/>
              </a:srgbClr>
            </a:outerShdw>
          </a:effectLst>
        </p:spPr>
      </p:pic>
      <p:sp>
        <p:nvSpPr>
          <p:cNvPr id="403" name="Google Shape;403;p16"/>
          <p:cNvSpPr/>
          <p:nvPr/>
        </p:nvSpPr>
        <p:spPr>
          <a:xfrm>
            <a:off x="548640" y="62636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Figure 5.1 — Submit + poll flow; all tests passing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6"/>
          <p:cNvSpPr/>
          <p:nvPr/>
        </p:nvSpPr>
        <p:spPr>
          <a:xfrm>
            <a:off x="4846320" y="23317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Three-tier strategy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6"/>
          <p:cNvSpPr/>
          <p:nvPr/>
        </p:nvSpPr>
        <p:spPr>
          <a:xfrm>
            <a:off x="4846320" y="2971800"/>
            <a:ext cx="6858000" cy="841248"/>
          </a:xfrm>
          <a:prstGeom prst="roundRect">
            <a:avLst>
              <a:gd fmla="val 8696" name="adj"/>
            </a:avLst>
          </a:prstGeom>
          <a:solidFill>
            <a:srgbClr val="16223A"/>
          </a:solidFill>
          <a:ln cap="flat" cmpd="sng" w="12700">
            <a:solidFill>
              <a:srgbClr val="2230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6"/>
          <p:cNvSpPr/>
          <p:nvPr/>
        </p:nvSpPr>
        <p:spPr>
          <a:xfrm>
            <a:off x="5029200" y="2971800"/>
            <a:ext cx="100584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2DD4BF"/>
                </a:solidFill>
                <a:latin typeface="Georgia"/>
                <a:ea typeface="Georgia"/>
                <a:cs typeface="Georgia"/>
                <a:sym typeface="Georgia"/>
              </a:rPr>
              <a:t>10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6"/>
          <p:cNvSpPr/>
          <p:nvPr/>
        </p:nvSpPr>
        <p:spPr>
          <a:xfrm>
            <a:off x="6126480" y="2971800"/>
            <a:ext cx="539496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Unit tests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Mocked deps — auth, Redis, secrets, router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6"/>
          <p:cNvSpPr/>
          <p:nvPr/>
        </p:nvSpPr>
        <p:spPr>
          <a:xfrm>
            <a:off x="4846320" y="3941064"/>
            <a:ext cx="6858000" cy="841248"/>
          </a:xfrm>
          <a:prstGeom prst="roundRect">
            <a:avLst>
              <a:gd fmla="val 8696" name="adj"/>
            </a:avLst>
          </a:prstGeom>
          <a:solidFill>
            <a:srgbClr val="16223A"/>
          </a:solidFill>
          <a:ln cap="flat" cmpd="sng" w="12700">
            <a:solidFill>
              <a:srgbClr val="2230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6"/>
          <p:cNvSpPr/>
          <p:nvPr/>
        </p:nvSpPr>
        <p:spPr>
          <a:xfrm>
            <a:off x="5029200" y="3941064"/>
            <a:ext cx="100584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2DD4BF"/>
                </a:solidFill>
                <a:latin typeface="Georgia"/>
                <a:ea typeface="Georgia"/>
                <a:cs typeface="Georgia"/>
                <a:sym typeface="Georgia"/>
              </a:rPr>
              <a:t>10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6"/>
          <p:cNvSpPr/>
          <p:nvPr/>
        </p:nvSpPr>
        <p:spPr>
          <a:xfrm>
            <a:off x="6126480" y="3941064"/>
            <a:ext cx="539496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Integration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Live Supabase + Redis, real Lambda handlers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6"/>
          <p:cNvSpPr/>
          <p:nvPr/>
        </p:nvSpPr>
        <p:spPr>
          <a:xfrm>
            <a:off x="4846320" y="4910328"/>
            <a:ext cx="6858000" cy="841248"/>
          </a:xfrm>
          <a:prstGeom prst="roundRect">
            <a:avLst>
              <a:gd fmla="val 8696" name="adj"/>
            </a:avLst>
          </a:prstGeom>
          <a:solidFill>
            <a:srgbClr val="16223A"/>
          </a:solidFill>
          <a:ln cap="flat" cmpd="sng" w="12700">
            <a:solidFill>
              <a:srgbClr val="2230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6"/>
          <p:cNvSpPr/>
          <p:nvPr/>
        </p:nvSpPr>
        <p:spPr>
          <a:xfrm>
            <a:off x="5029200" y="4910328"/>
            <a:ext cx="100584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2DD4B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6"/>
          <p:cNvSpPr/>
          <p:nvPr/>
        </p:nvSpPr>
        <p:spPr>
          <a:xfrm>
            <a:off x="6126480" y="4910328"/>
            <a:ext cx="539496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End-to-end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Full pipeline against deployed API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6"/>
          <p:cNvSpPr/>
          <p:nvPr/>
        </p:nvSpPr>
        <p:spPr>
          <a:xfrm>
            <a:off x="4846320" y="5925312"/>
            <a:ext cx="6858000" cy="777240"/>
          </a:xfrm>
          <a:prstGeom prst="roundRect">
            <a:avLst>
              <a:gd fmla="val 9412" name="adj"/>
            </a:avLst>
          </a:prstGeom>
          <a:solidFill>
            <a:srgbClr val="0E2A33"/>
          </a:solidFill>
          <a:ln cap="flat" cmpd="sng" w="1905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check_teal.png" id="415" name="Google Shape;41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74920" y="612648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16"/>
          <p:cNvSpPr/>
          <p:nvPr/>
        </p:nvSpPr>
        <p:spPr>
          <a:xfrm>
            <a:off x="5669280" y="5925312"/>
            <a:ext cx="5852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23 / 23 tests passed  </a:t>
            </a:r>
            <a:r>
              <a:rPr b="0" i="0" lang="en-US" sz="14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·  100% pass rate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6"/>
          <p:cNvSpPr/>
          <p:nvPr/>
        </p:nvSpPr>
        <p:spPr>
          <a:xfrm>
            <a:off x="9448495" y="644652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MindAgent  ·  Testing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ChandigarhUni-head-left.png" id="423" name="Google Shape;42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10896"/>
            <a:ext cx="1005302" cy="384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ets/cu-online-head-right.png" id="424" name="Google Shape;42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06209" y="329184"/>
            <a:ext cx="1328286" cy="3657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5" name="Google Shape;425;p17"/>
          <p:cNvCxnSpPr/>
          <p:nvPr/>
        </p:nvCxnSpPr>
        <p:spPr>
          <a:xfrm>
            <a:off x="457200" y="868680"/>
            <a:ext cx="11277295" cy="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6" name="Google Shape;426;p17"/>
          <p:cNvSpPr/>
          <p:nvPr/>
        </p:nvSpPr>
        <p:spPr>
          <a:xfrm>
            <a:off x="457200" y="1078992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2DD4BF"/>
                </a:solidFill>
                <a:latin typeface="Consolas"/>
                <a:ea typeface="Consolas"/>
                <a:cs typeface="Consolas"/>
                <a:sym typeface="Consolas"/>
              </a:rPr>
              <a:t>CHAPTER 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7"/>
          <p:cNvSpPr/>
          <p:nvPr/>
        </p:nvSpPr>
        <p:spPr>
          <a:xfrm>
            <a:off x="457200" y="1353312"/>
            <a:ext cx="1127729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Conclusion &amp; Future Scope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7"/>
          <p:cNvSpPr/>
          <p:nvPr/>
        </p:nvSpPr>
        <p:spPr>
          <a:xfrm>
            <a:off x="457200" y="2240280"/>
            <a:ext cx="5486400" cy="4069080"/>
          </a:xfrm>
          <a:prstGeom prst="roundRect">
            <a:avLst>
              <a:gd fmla="val 224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334155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7"/>
          <p:cNvSpPr/>
          <p:nvPr/>
        </p:nvSpPr>
        <p:spPr>
          <a:xfrm>
            <a:off x="457200" y="2240280"/>
            <a:ext cx="5486400" cy="10972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7"/>
          <p:cNvSpPr/>
          <p:nvPr/>
        </p:nvSpPr>
        <p:spPr>
          <a:xfrm>
            <a:off x="731520" y="251460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0E7490"/>
                </a:solidFill>
                <a:latin typeface="Consolas"/>
                <a:ea typeface="Consolas"/>
                <a:cs typeface="Consolas"/>
                <a:sym typeface="Consolas"/>
              </a:rPr>
              <a:t>KEY ACHIEVEMENTS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7"/>
          <p:cNvSpPr/>
          <p:nvPr/>
        </p:nvSpPr>
        <p:spPr>
          <a:xfrm>
            <a:off x="777240" y="3017520"/>
            <a:ext cx="498348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Char char="✓"/>
            </a:pP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Async submit-poll fully defeats the 29 s timeout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110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Char char="✓"/>
            </a:pP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Hybrid search beats vector- or keyword-only retrieval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110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Char char="✓"/>
            </a:pP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Confidence-gated HyDE adds quality without wasted tokens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110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Char char="✓"/>
            </a:pP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MMR λ=0.7 keeps context diverse, cuts hallucination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110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Char char="✓"/>
            </a:pP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SQS re-queue means no query ever fails on rate limits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110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Char char="✓"/>
            </a:pP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RLS + scoped cache keys guarantee tenant isolation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7"/>
          <p:cNvSpPr/>
          <p:nvPr/>
        </p:nvSpPr>
        <p:spPr>
          <a:xfrm>
            <a:off x="6263640" y="2240280"/>
            <a:ext cx="5486400" cy="4069080"/>
          </a:xfrm>
          <a:prstGeom prst="roundRect">
            <a:avLst>
              <a:gd fmla="val 2247" name="adj"/>
            </a:avLst>
          </a:prstGeom>
          <a:solidFill>
            <a:srgbClr val="0B1220"/>
          </a:solidFill>
          <a:ln>
            <a:noFill/>
          </a:ln>
          <a:effectLst>
            <a:outerShdw blurRad="101600" rotWithShape="0" algn="bl" dir="8100000" dist="38100">
              <a:srgbClr val="334155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7"/>
          <p:cNvSpPr/>
          <p:nvPr/>
        </p:nvSpPr>
        <p:spPr>
          <a:xfrm>
            <a:off x="6263640" y="2240280"/>
            <a:ext cx="5486400" cy="10972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7"/>
          <p:cNvSpPr/>
          <p:nvPr/>
        </p:nvSpPr>
        <p:spPr>
          <a:xfrm>
            <a:off x="6537960" y="251460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BBF24"/>
                </a:solidFill>
                <a:latin typeface="Consolas"/>
                <a:ea typeface="Consolas"/>
                <a:cs typeface="Consolas"/>
                <a:sym typeface="Consolas"/>
              </a:rPr>
              <a:t>FUTURE SCOPE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icons/rocket_teal.png" id="435" name="Google Shape;43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37960" y="3063240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17"/>
          <p:cNvSpPr/>
          <p:nvPr/>
        </p:nvSpPr>
        <p:spPr>
          <a:xfrm>
            <a:off x="6949440" y="3026664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Multi-format ingestion (DOCX, HTML, OCR)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icons/bolt_teal.png" id="437" name="Google Shape;43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37960" y="368503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17"/>
          <p:cNvSpPr/>
          <p:nvPr/>
        </p:nvSpPr>
        <p:spPr>
          <a:xfrm>
            <a:off x="6949440" y="3648456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Streaming responses via SSE / WebSocket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icons/brain_teal.png" id="439" name="Google Shape;43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37960" y="4306824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17"/>
          <p:cNvSpPr/>
          <p:nvPr/>
        </p:nvSpPr>
        <p:spPr>
          <a:xfrm>
            <a:off x="6949440" y="4270248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Agentic tool use — search, calc, code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icons/filter_teal.png" id="441" name="Google Shape;441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37960" y="4928616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17"/>
          <p:cNvSpPr/>
          <p:nvPr/>
        </p:nvSpPr>
        <p:spPr>
          <a:xfrm>
            <a:off x="6949440" y="489204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Cross-encoder reranking (Cohere Rerank)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icons/comments_teal.png" id="443" name="Google Shape;443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37960" y="555040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17"/>
          <p:cNvSpPr/>
          <p:nvPr/>
        </p:nvSpPr>
        <p:spPr>
          <a:xfrm>
            <a:off x="6949440" y="5513832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Multilingual BM25 + usage analytics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7"/>
          <p:cNvSpPr/>
          <p:nvPr/>
        </p:nvSpPr>
        <p:spPr>
          <a:xfrm>
            <a:off x="9448495" y="644652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MindAgent  ·  Conclusion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8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proc/logo_left_pill.png" id="452" name="Google Shape;45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411480"/>
            <a:ext cx="1144805" cy="502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ets/proc/logo_right_pill.png" id="453" name="Google Shape;45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43620" y="411480"/>
            <a:ext cx="1545156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18"/>
          <p:cNvSpPr/>
          <p:nvPr/>
        </p:nvSpPr>
        <p:spPr>
          <a:xfrm>
            <a:off x="731520" y="2286000"/>
            <a:ext cx="10058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00"/>
              <a:buFont typeface="Georgia"/>
              <a:buNone/>
            </a:pPr>
            <a:r>
              <a:rPr b="1" i="0" lang="en-US" sz="5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Thank You</a:t>
            </a:r>
            <a:endParaRPr b="0" i="0" sz="5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8"/>
          <p:cNvSpPr/>
          <p:nvPr/>
        </p:nvSpPr>
        <p:spPr>
          <a:xfrm>
            <a:off x="777240" y="342900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900"/>
              <a:buFont typeface="Georgia"/>
              <a:buNone/>
            </a:pPr>
            <a:r>
              <a:rPr b="0" i="1" lang="en-US" sz="1900" u="none" cap="none" strike="noStrike">
                <a:solidFill>
                  <a:srgbClr val="CBD5E1"/>
                </a:solidFill>
                <a:latin typeface="Georgia"/>
                <a:ea typeface="Georgia"/>
                <a:cs typeface="Georgia"/>
                <a:sym typeface="Georgia"/>
              </a:rPr>
              <a:t>MindAgent — production-grade document intelligence, built entirely serverless.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6" name="Google Shape;456;p18"/>
          <p:cNvCxnSpPr/>
          <p:nvPr/>
        </p:nvCxnSpPr>
        <p:spPr>
          <a:xfrm>
            <a:off x="777240" y="4297680"/>
            <a:ext cx="7772400" cy="0"/>
          </a:xfrm>
          <a:prstGeom prst="straightConnector1">
            <a:avLst/>
          </a:prstGeom>
          <a:noFill/>
          <a:ln cap="flat" cmpd="sng" w="12700">
            <a:solidFill>
              <a:srgbClr val="22304D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ssets/icons/code_teal.png" id="457" name="Google Shape;45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7240" y="4572000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18"/>
          <p:cNvSpPr/>
          <p:nvPr/>
        </p:nvSpPr>
        <p:spPr>
          <a:xfrm>
            <a:off x="1207008" y="4553712"/>
            <a:ext cx="6400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2DD4BF"/>
                </a:solidFill>
                <a:latin typeface="Consolas"/>
                <a:ea typeface="Consolas"/>
                <a:cs typeface="Consolas"/>
                <a:sym typeface="Consolas"/>
              </a:rPr>
              <a:t>github.com/Abhiraj-cuchd/docmind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icons/cloud_teal.png" id="459" name="Google Shape;45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7240" y="5074920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8"/>
          <p:cNvSpPr/>
          <p:nvPr/>
        </p:nvSpPr>
        <p:spPr>
          <a:xfrm>
            <a:off x="1207008" y="5056632"/>
            <a:ext cx="6400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2DD4BF"/>
                </a:solidFill>
                <a:latin typeface="Consolas"/>
                <a:ea typeface="Consolas"/>
                <a:cs typeface="Consolas"/>
                <a:sym typeface="Consolas"/>
              </a:rPr>
              <a:t>mindagent.abhirajghosh.tech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8"/>
          <p:cNvSpPr/>
          <p:nvPr/>
        </p:nvSpPr>
        <p:spPr>
          <a:xfrm>
            <a:off x="777240" y="58064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Abhiraj Ghosh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O24MCA110969 · MCA 4th Sem · CU Online · 2024–2026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